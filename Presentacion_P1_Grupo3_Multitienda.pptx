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2" roundtripDataSignature="AMtx7mhfZ4NUQXhepqoASjkMuQW3bz8V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7AC9C6-C6E4-49D6-8E44-5D6F4D56396A}">
  <a:tblStyle styleId="{FA7AC9C6-C6E4-49D6-8E44-5D6F4D5639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340" autoAdjust="0"/>
  </p:normalViewPr>
  <p:slideViewPr>
    <p:cSldViewPr snapToGrid="0">
      <p:cViewPr varScale="1">
        <p:scale>
          <a:sx n="63" d="100"/>
          <a:sy n="63" d="100"/>
        </p:scale>
        <p:origin x="14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br>
              <a:rPr lang="en-US"/>
            </a:br>
            <a:br>
              <a:rPr lang="en-US"/>
            </a:br>
            <a:r>
              <a:rPr lang="es-CL" b="1"/>
              <a:t>Tiempo objetivo: 45 segundos</a:t>
            </a:r>
            <a:endParaRPr lang="es-CL"/>
          </a:p>
          <a:p>
            <a:r>
              <a:rPr lang="es-CL"/>
              <a:t>Buenos días. En nuestra reunión nos plantearon una preocupación: saber si </a:t>
            </a:r>
            <a:r>
              <a:rPr lang="es-CL" err="1"/>
              <a:t>Multitienda</a:t>
            </a:r>
            <a:r>
              <a:rPr lang="es-CL"/>
              <a:t> del Sur está reteniendo a sus clientes o si está compensando su pérdida con nuevos compradores.</a:t>
            </a:r>
          </a:p>
          <a:p>
            <a:r>
              <a:rPr lang="es-CL" b="1"/>
              <a:t>Nuestra conclusión es que la cadena está reponiendo clientes, no reteniéndolos.</a:t>
            </a:r>
            <a:endParaRPr lang="es-CL"/>
          </a:p>
          <a:p>
            <a:r>
              <a:rPr lang="es-CL"/>
              <a:t>De los clientes activos en junio, solamente el 41,5% seguía activo en diciembre, el resto se perdieron. Y de los clientes activos en diciembre, casi siete de cada diez no estaban activos en junio, la mayoría eran nuevos</a:t>
            </a:r>
          </a:p>
          <a:p>
            <a:r>
              <a:rPr lang="es-CL"/>
              <a:t>Esto evidencia un recambio importante, que puede pasar desapercibido si las ventas se mantienen planas.</a:t>
            </a:r>
          </a:p>
          <a:p>
            <a:r>
              <a:rPr lang="es-CL"/>
              <a:t>Por eso recomendamos establecer una definición oficial de cliente activo y priorizar la fidelización. Estimamos que mejorar la retención en diez puntos porcentuales representaría uno 6,8 millones de pesos en ventas anuales adicionales.</a:t>
            </a:r>
          </a:p>
          <a:p>
            <a:r>
              <a:rPr lang="es-CL"/>
              <a:t>Veamos cómo llegamos a esta conclusión.</a:t>
            </a:r>
          </a:p>
          <a:p>
            <a:endParaRPr lang="es-CL"/>
          </a:p>
          <a:p>
            <a:endParaRPr lang="es-CL"/>
          </a:p>
          <a:p>
            <a:endParaRPr lang="es-CL"/>
          </a:p>
          <a:p>
            <a:r>
              <a:rPr lang="es-ES_tradnl" noProof="0"/>
              <a:t>[1:00 · ABRE CON LA RESPUESTA, NO CON EL CONTEXTO]</a:t>
            </a:r>
            <a:br>
              <a:rPr lang="es-ES_tradnl" noProof="0"/>
            </a:br>
            <a:r>
              <a:rPr lang="es-ES_tradnl" noProof="0"/>
              <a:t>“Buenos días. Nos preguntaron si Multitienda del Sur está reteniendo a sus clientes o reponiéndolos con compradores de una sola vez. La respuesta corta: los está reponiendo.</a:t>
            </a:r>
            <a:br>
              <a:rPr lang="es-ES_tradnl" noProof="0"/>
            </a:br>
            <a:r>
              <a:rPr lang="es-ES_tradnl" noProof="0"/>
              <a:t>De los clientes que estaban activos en junio, solo el 41,5% seguía comprando en diciembre. Y de los clientes activos en diciembre, casi 7 de cada 10 no compraban en junio: son reemplazos.</a:t>
            </a:r>
            <a:br>
              <a:rPr lang="es-ES_tradnl" noProof="0"/>
            </a:br>
            <a:r>
              <a:rPr lang="es-ES_tradnl" noProof="0"/>
              <a:t>Por eso las ventas se ven planas: la base no crece, se recambia.</a:t>
            </a:r>
            <a:br>
              <a:rPr lang="es-ES_tradnl" noProof="0"/>
            </a:br>
            <a:r>
              <a:rPr lang="es-ES_tradnl" noProof="0"/>
              <a:t>Nuestra recomendación es fijar una definición oficial de cliente activo y poner la retención antes que la captación. Cada 10 puntos de retención valen cerca de 6,8 millones de pesos de venta al año.</a:t>
            </a:r>
            <a:br>
              <a:rPr lang="es-ES_tradnl" noProof="0"/>
            </a:br>
            <a:r>
              <a:rPr lang="es-ES_tradnl" noProof="0"/>
              <a:t>Y adelantamos lo que nos van a preguntar: ‘activo’ es haber comprado en los últimos 90 días. Si usamos 180, los números cambian a 58,6% y 59%, pero la conclusión es la misma.”</a:t>
            </a:r>
            <a:br>
              <a:rPr lang="es-ES_tradnl" noProof="0"/>
            </a:br>
            <a:r>
              <a:rPr lang="es-ES_tradnl" noProof="0"/>
              <a:t>Pasar a la siguiente.</a:t>
            </a:r>
            <a:endParaRPr lang="es-CL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b="1"/>
              <a:t>Tiempo objetivo: 1 minuto y 10 segundos</a:t>
            </a:r>
            <a:endParaRPr lang="es-CL"/>
          </a:p>
          <a:p>
            <a:r>
              <a:rPr lang="es-CL" b="1"/>
              <a:t>[Inicialmente: barra azul de 487 visible]</a:t>
            </a:r>
            <a:endParaRPr lang="es-CL"/>
          </a:p>
          <a:p>
            <a:r>
              <a:rPr lang="es-CL"/>
              <a:t>Partamos con los 487 clientes que estaban activos a fines de junio de 2025.</a:t>
            </a:r>
          </a:p>
          <a:p>
            <a:r>
              <a:rPr lang="es-CL" b="1"/>
              <a:t>[Clic 1: barra gris de −285 crece hacia abajo]</a:t>
            </a:r>
            <a:endParaRPr lang="es-CL"/>
          </a:p>
          <a:p>
            <a:r>
              <a:rPr lang="es-CL"/>
              <a:t>Al llegar a diciembre, 285 de ellos habían dejado de estar activos. Perdimos al 59% de nuestra base inicial.</a:t>
            </a:r>
          </a:p>
          <a:p>
            <a:r>
              <a:rPr lang="es-CL" b="1"/>
              <a:t>[Clic 2: barra naranja de +415 crece hacia arriba]</a:t>
            </a:r>
            <a:endParaRPr lang="es-CL"/>
          </a:p>
          <a:p>
            <a:r>
              <a:rPr lang="es-CL"/>
              <a:t>Pero durante ese tiempo también se incorporaron 415 clientes nuevos que estaban activos en diciembre.</a:t>
            </a:r>
          </a:p>
          <a:p>
            <a:r>
              <a:rPr lang="es-CL" b="1"/>
              <a:t>[Clic 3: barra naranja de +44 crece hacia arriba]</a:t>
            </a:r>
            <a:endParaRPr lang="es-CL"/>
          </a:p>
          <a:p>
            <a:r>
              <a:rPr lang="es-CL"/>
              <a:t>Y se sumaron otros 44 que ya era clientes en junio pero estaban inactivos y se reactivaron.</a:t>
            </a:r>
          </a:p>
          <a:p>
            <a:r>
              <a:rPr lang="es-CL" b="1"/>
              <a:t>[Clic 4: bloque azul de 202 se desplaza hacia la última columna]</a:t>
            </a:r>
            <a:endParaRPr lang="es-CL"/>
          </a:p>
          <a:p>
            <a:r>
              <a:rPr lang="es-CL"/>
              <a:t>De los 487 clientes con los que partimos, solamente 202 seguían activos en diciembre. Estos son los clientes que retuvimos.</a:t>
            </a:r>
          </a:p>
          <a:p>
            <a:r>
              <a:rPr lang="es-CL" b="1"/>
              <a:t>[Clic 5: aparecen los 459 reemplazos]</a:t>
            </a:r>
            <a:endParaRPr lang="es-CL"/>
          </a:p>
          <a:p>
            <a:r>
              <a:rPr lang="es-CL"/>
              <a:t>Así llegamos a diciembre con 661 clientes activos. Es más que en junio, pero</a:t>
            </a:r>
          </a:p>
          <a:p>
            <a:r>
              <a:rPr lang="es-CL"/>
              <a:t>fíjense en su composición: </a:t>
            </a:r>
            <a:r>
              <a:rPr lang="es-CL" b="1"/>
              <a:t>459 son nuevos o reactivados respecto de junio. Es el 69% de la base de diciembre.</a:t>
            </a:r>
            <a:endParaRPr lang="es-CL"/>
          </a:p>
          <a:p>
            <a:r>
              <a:rPr lang="es-CL"/>
              <a:t>Entonces, aunque tenemos más clientes activos al cierre, una gran parte de ellos está reemplazando a quienes dejamos de retener.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L"/>
              <a:t>Y ahora veremos por qué depender de este recambio puede ser preocupante.</a:t>
            </a:r>
            <a:br>
              <a:rPr lang="es-CL"/>
            </a:br>
            <a:br>
              <a:rPr lang="es-CL"/>
            </a:br>
            <a:br>
              <a:rPr lang="es-CL"/>
            </a:br>
            <a:r>
              <a:rPr lang="en-US"/>
              <a:t>[1:10 · EL NÚCLEO DE LA RESPUESTA]</a:t>
            </a:r>
            <a:br>
              <a:rPr lang="en-US"/>
            </a:br>
            <a:r>
              <a:rPr lang="en-US"/>
              <a:t>“Esta es la </a:t>
            </a:r>
            <a:r>
              <a:rPr lang="en-US" err="1"/>
              <a:t>foto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responde</a:t>
            </a:r>
            <a:r>
              <a:rPr lang="en-US"/>
              <a:t> la </a:t>
            </a:r>
            <a:r>
              <a:rPr lang="en-US" err="1"/>
              <a:t>pregunta</a:t>
            </a:r>
            <a:r>
              <a:rPr lang="en-US"/>
              <a:t>. A la </a:t>
            </a:r>
            <a:r>
              <a:rPr lang="en-US" err="1"/>
              <a:t>izquierda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487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estaban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el 30 de </a:t>
            </a:r>
            <a:r>
              <a:rPr lang="en-US" err="1"/>
              <a:t>junio</a:t>
            </a:r>
            <a:r>
              <a:rPr lang="en-US"/>
              <a:t>. A la </a:t>
            </a:r>
            <a:r>
              <a:rPr lang="en-US" err="1"/>
              <a:t>derecha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661 </a:t>
            </a:r>
            <a:r>
              <a:rPr lang="en-US" err="1"/>
              <a:t>activos</a:t>
            </a:r>
            <a:r>
              <a:rPr lang="en-US"/>
              <a:t> el 31 de </a:t>
            </a:r>
            <a:r>
              <a:rPr lang="en-US" err="1"/>
              <a:t>diciembre</a:t>
            </a:r>
            <a:r>
              <a:rPr lang="en-US"/>
              <a:t>.</a:t>
            </a:r>
            <a:br>
              <a:rPr lang="en-US"/>
            </a:br>
            <a:r>
              <a:rPr lang="en-US"/>
              <a:t>Solo 202 </a:t>
            </a:r>
            <a:r>
              <a:rPr lang="en-US" err="1"/>
              <a:t>aparecen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las dos </a:t>
            </a:r>
            <a:r>
              <a:rPr lang="en-US" err="1"/>
              <a:t>fotos</a:t>
            </a:r>
            <a:r>
              <a:rPr lang="en-US"/>
              <a:t>: </a:t>
            </a:r>
            <a:r>
              <a:rPr lang="en-US" err="1"/>
              <a:t>esos</a:t>
            </a:r>
            <a:r>
              <a:rPr lang="en-US"/>
              <a:t> son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retenidos</a:t>
            </a:r>
            <a:r>
              <a:rPr lang="en-US"/>
              <a:t>. Los </a:t>
            </a:r>
            <a:r>
              <a:rPr lang="en-US" err="1"/>
              <a:t>otros</a:t>
            </a:r>
            <a:r>
              <a:rPr lang="en-US"/>
              <a:t> 285 de </a:t>
            </a:r>
            <a:r>
              <a:rPr lang="en-US" err="1"/>
              <a:t>junio</a:t>
            </a:r>
            <a:r>
              <a:rPr lang="en-US"/>
              <a:t> </a:t>
            </a:r>
            <a:r>
              <a:rPr lang="en-US" err="1"/>
              <a:t>dejaron</a:t>
            </a:r>
            <a:r>
              <a:rPr lang="en-US"/>
              <a:t> de </a:t>
            </a:r>
            <a:r>
              <a:rPr lang="en-US" err="1"/>
              <a:t>comprar</a:t>
            </a:r>
            <a:r>
              <a:rPr lang="en-US"/>
              <a:t>, el 59% de la base.</a:t>
            </a:r>
            <a:br>
              <a:rPr lang="en-US"/>
            </a:br>
            <a:r>
              <a:rPr lang="en-US"/>
              <a:t>En </a:t>
            </a:r>
            <a:r>
              <a:rPr lang="en-US" err="1"/>
              <a:t>diciembre</a:t>
            </a:r>
            <a:r>
              <a:rPr lang="en-US"/>
              <a:t> hay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junio</a:t>
            </a:r>
            <a:r>
              <a:rPr lang="en-US"/>
              <a:t>, y </a:t>
            </a:r>
            <a:r>
              <a:rPr lang="en-US" err="1"/>
              <a:t>eso</a:t>
            </a:r>
            <a:r>
              <a:rPr lang="en-US"/>
              <a:t> es lo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hace</a:t>
            </a:r>
            <a:r>
              <a:rPr lang="en-US"/>
              <a:t> </a:t>
            </a:r>
            <a:r>
              <a:rPr lang="en-US" err="1"/>
              <a:t>ver</a:t>
            </a:r>
            <a:r>
              <a:rPr lang="en-US"/>
              <a:t> las </a:t>
            </a:r>
            <a:r>
              <a:rPr lang="en-US" err="1"/>
              <a:t>ventas</a:t>
            </a:r>
            <a:r>
              <a:rPr lang="en-US"/>
              <a:t> </a:t>
            </a:r>
            <a:r>
              <a:rPr lang="en-US" err="1"/>
              <a:t>sanas</a:t>
            </a:r>
            <a:r>
              <a:rPr lang="en-US"/>
              <a:t>. Pero 459 de </a:t>
            </a:r>
            <a:r>
              <a:rPr lang="en-US" err="1"/>
              <a:t>esos</a:t>
            </a:r>
            <a:r>
              <a:rPr lang="en-US"/>
              <a:t> 661 no </a:t>
            </a:r>
            <a:r>
              <a:rPr lang="en-US" err="1"/>
              <a:t>estaban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junio</a:t>
            </a:r>
            <a:r>
              <a:rPr lang="en-US"/>
              <a:t>: 415 son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nuevos</a:t>
            </a:r>
            <a:r>
              <a:rPr lang="en-US"/>
              <a:t> y 44 son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antiguos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volvieron</a:t>
            </a:r>
            <a:r>
              <a:rPr lang="en-US"/>
              <a:t>.</a:t>
            </a:r>
            <a:br>
              <a:rPr lang="en-US"/>
            </a:br>
            <a:r>
              <a:rPr lang="en-US"/>
              <a:t>O sea: la </a:t>
            </a:r>
            <a:r>
              <a:rPr lang="en-US" err="1"/>
              <a:t>cadena</a:t>
            </a:r>
            <a:r>
              <a:rPr lang="en-US"/>
              <a:t> no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sumando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cambiando</a:t>
            </a:r>
            <a:r>
              <a:rPr lang="en-US"/>
              <a:t>.”</a:t>
            </a:r>
            <a:br>
              <a:rPr lang="en-US"/>
            </a:br>
            <a:r>
              <a:rPr lang="en-US"/>
              <a:t>Si </a:t>
            </a:r>
            <a:r>
              <a:rPr lang="en-US" err="1"/>
              <a:t>preguntan</a:t>
            </a:r>
            <a:r>
              <a:rPr lang="en-US"/>
              <a:t> “¿no es bueno </a:t>
            </a:r>
            <a:r>
              <a:rPr lang="en-US" err="1"/>
              <a:t>tener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diciembre</a:t>
            </a:r>
            <a:r>
              <a:rPr lang="en-US"/>
              <a:t>?”: </a:t>
            </a:r>
            <a:r>
              <a:rPr lang="en-US" err="1"/>
              <a:t>sí</a:t>
            </a:r>
            <a:r>
              <a:rPr lang="en-US"/>
              <a:t>,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depende</a:t>
            </a:r>
            <a:r>
              <a:rPr lang="en-US"/>
              <a:t> de </a:t>
            </a:r>
            <a:r>
              <a:rPr lang="en-US" err="1"/>
              <a:t>seguir</a:t>
            </a:r>
            <a:r>
              <a:rPr lang="en-US"/>
              <a:t> </a:t>
            </a:r>
            <a:r>
              <a:rPr lang="en-US" err="1"/>
              <a:t>captando</a:t>
            </a:r>
            <a:r>
              <a:rPr lang="en-US"/>
              <a:t> al </a:t>
            </a:r>
            <a:r>
              <a:rPr lang="en-US" err="1"/>
              <a:t>mismo</a:t>
            </a:r>
            <a:r>
              <a:rPr lang="en-US"/>
              <a:t> </a:t>
            </a:r>
            <a:r>
              <a:rPr lang="en-US" err="1"/>
              <a:t>ritmo</a:t>
            </a:r>
            <a:r>
              <a:rPr lang="en-US"/>
              <a:t> para no </a:t>
            </a:r>
            <a:r>
              <a:rPr lang="en-US" err="1"/>
              <a:t>caer</a:t>
            </a:r>
            <a:r>
              <a:rPr lang="en-US"/>
              <a:t>; y la </a:t>
            </a:r>
            <a:r>
              <a:rPr lang="en-US" err="1"/>
              <a:t>siguiente</a:t>
            </a:r>
            <a:r>
              <a:rPr lang="en-US"/>
              <a:t> </a:t>
            </a:r>
            <a:r>
              <a:rPr lang="en-US" err="1"/>
              <a:t>lámina</a:t>
            </a:r>
            <a:r>
              <a:rPr lang="en-US"/>
              <a:t> </a:t>
            </a:r>
            <a:r>
              <a:rPr lang="en-US" err="1"/>
              <a:t>muestra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llegan</a:t>
            </a:r>
            <a:r>
              <a:rPr lang="en-US"/>
              <a:t> </a:t>
            </a:r>
            <a:r>
              <a:rPr lang="en-US" err="1"/>
              <a:t>vuelven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.</a:t>
            </a:r>
            <a:br>
              <a:rPr lang="en-US"/>
            </a:br>
            <a:r>
              <a:rPr lang="en-US"/>
              <a:t>Pasar a la </a:t>
            </a:r>
            <a:r>
              <a:rPr lang="en-US" err="1"/>
              <a:t>siguiente</a:t>
            </a:r>
            <a:r>
              <a:rPr lang="en-US"/>
              <a:t>.</a:t>
            </a:r>
          </a:p>
          <a:p>
            <a:endParaRPr lang="es-CL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2D162FD-F93B-9214-0065-C2CBCF6B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CCC9CCA1-217D-251C-F79E-30BFB3A5A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973B5BDB-B141-0F50-80FB-9F442BAB7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b="1"/>
              <a:t>Tiempo objetivo: 55 segundos</a:t>
            </a:r>
            <a:endParaRPr lang="es-CL"/>
          </a:p>
          <a:p>
            <a:r>
              <a:rPr lang="es-CL"/>
              <a:t>¿Por qué nos preocupa este recambio? Por dos hallazgos que medimos con los datos.</a:t>
            </a:r>
          </a:p>
          <a:p>
            <a:r>
              <a:rPr lang="es-CL"/>
              <a:t>Pero antes, una aclaración: </a:t>
            </a:r>
            <a:r>
              <a:rPr lang="es-CL" b="1"/>
              <a:t>distinguimos clientes nuevos y antiguos según su Fecha de Alta</a:t>
            </a:r>
            <a:r>
              <a:rPr lang="es-CL"/>
              <a:t>, es decir, la fecha de inscripción en el programa de fidelización. Consideramos nuevos a los inscritos en 2025 y antiguos a los inscritos antes. </a:t>
            </a:r>
            <a:r>
              <a:rPr lang="es-CL" sz="1200" b="0" i="0" u="none" strike="noStrike" cap="none" spc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 usamos la fecha de la primera compra para definirlos, porque como solo tenemos datos de 2025, cualquier cliente antiguo que compró en 2025 se leería como cliente nuevo.</a:t>
            </a:r>
          </a:p>
          <a:p>
            <a:r>
              <a:rPr lang="es-CL"/>
              <a:t>Con esto dicho, a la izquierda vemos la actividad de los clientes antiguos.</a:t>
            </a:r>
          </a:p>
          <a:p>
            <a:r>
              <a:rPr lang="es-CL"/>
              <a:t>En enero, 176 de ellos compraron. En diciembre, solamente 44. </a:t>
            </a:r>
            <a:r>
              <a:rPr lang="es-CL" b="1"/>
              <a:t>Eso es una caída del 75% en la cantidad de clientes antiguos que compran mensualmente.</a:t>
            </a:r>
            <a:endParaRPr lang="es-CL"/>
          </a:p>
          <a:p>
            <a:r>
              <a:rPr lang="es-CL"/>
              <a:t>Segundo, a la derecha vemos la recompra de los clientes nuevos, agrupados por el mes de su primera compra.</a:t>
            </a:r>
          </a:p>
          <a:p>
            <a:r>
              <a:rPr lang="es-CL"/>
              <a:t>De quienes llegaron en enero, el 84% volvió a comprar dentro de 90 días. Entre quienes llegaron en septiembre, ese porcentaje fue solamente del 58%.</a:t>
            </a:r>
          </a:p>
          <a:p>
            <a:r>
              <a:rPr lang="es-CL"/>
              <a:t>Pese a las fluctuaciones, observamos una disminución de 26 puntos porcentuales entre ambas cohortes.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L" b="1"/>
              <a:t>Esto es preocupante porque la cadena está perdiendo presencia de sus clientes antiguos, mientras que los nuevos que incorpora están volviendo cada vez menos.</a:t>
            </a:r>
            <a:br>
              <a:rPr lang="es-CL" b="1"/>
            </a:br>
            <a:br>
              <a:rPr lang="es-CL" b="1"/>
            </a:br>
            <a:r>
              <a:rPr lang="en-US"/>
              <a:t>[1:10 · POR QUÉ ES UN PROBLEMA Y NO SOLO UN RECAMBIO]</a:t>
            </a:r>
            <a:br>
              <a:rPr lang="en-US"/>
            </a:br>
            <a:r>
              <a:rPr lang="en-US"/>
              <a:t>“¿Por </a:t>
            </a:r>
            <a:r>
              <a:rPr lang="en-US" err="1"/>
              <a:t>qué</a:t>
            </a:r>
            <a:r>
              <a:rPr lang="en-US"/>
              <a:t> decimos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esto</a:t>
            </a:r>
            <a:r>
              <a:rPr lang="en-US"/>
              <a:t> es </a:t>
            </a:r>
            <a:r>
              <a:rPr lang="en-US" err="1"/>
              <a:t>frágil</a:t>
            </a:r>
            <a:r>
              <a:rPr lang="en-US"/>
              <a:t>? Por dos </a:t>
            </a:r>
            <a:r>
              <a:rPr lang="en-US" err="1"/>
              <a:t>cosas</a:t>
            </a:r>
            <a:r>
              <a:rPr lang="en-US"/>
              <a:t>.</a:t>
            </a:r>
            <a:br>
              <a:rPr lang="en-US"/>
            </a:br>
            <a:r>
              <a:rPr lang="en-US"/>
              <a:t>A la </a:t>
            </a:r>
            <a:r>
              <a:rPr lang="en-US" err="1"/>
              <a:t>izquierda</a:t>
            </a:r>
            <a:r>
              <a:rPr lang="en-US"/>
              <a:t>: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tenían</a:t>
            </a:r>
            <a:r>
              <a:rPr lang="en-US"/>
              <a:t> </a:t>
            </a:r>
            <a:r>
              <a:rPr lang="en-US" err="1"/>
              <a:t>tarjeta</a:t>
            </a:r>
            <a:r>
              <a:rPr lang="en-US"/>
              <a:t> antes de 2025 —la base </a:t>
            </a:r>
            <a:r>
              <a:rPr lang="en-US" err="1"/>
              <a:t>antigua</a:t>
            </a:r>
            <a:r>
              <a:rPr lang="en-US"/>
              <a:t>— </a:t>
            </a:r>
            <a:r>
              <a:rPr lang="en-US" err="1"/>
              <a:t>eran</a:t>
            </a:r>
            <a:r>
              <a:rPr lang="en-US"/>
              <a:t> 176 </a:t>
            </a:r>
            <a:r>
              <a:rPr lang="en-US" err="1"/>
              <a:t>comprando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enero</a:t>
            </a:r>
            <a:r>
              <a:rPr lang="en-US"/>
              <a:t> y </a:t>
            </a:r>
            <a:r>
              <a:rPr lang="en-US" err="1"/>
              <a:t>terminan</a:t>
            </a:r>
            <a:r>
              <a:rPr lang="en-US"/>
              <a:t> el </a:t>
            </a:r>
            <a:r>
              <a:rPr lang="en-US" err="1"/>
              <a:t>año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44. Y </a:t>
            </a:r>
            <a:r>
              <a:rPr lang="en-US" err="1"/>
              <a:t>retienen</a:t>
            </a:r>
            <a:r>
              <a:rPr lang="en-US"/>
              <a:t> </a:t>
            </a:r>
            <a:r>
              <a:rPr lang="en-US" err="1"/>
              <a:t>peor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nuevos</a:t>
            </a:r>
            <a:r>
              <a:rPr lang="en-US"/>
              <a:t>: 36% contra 45%. Los </a:t>
            </a:r>
            <a:r>
              <a:rPr lang="en-US" err="1"/>
              <a:t>clientes</a:t>
            </a:r>
            <a:r>
              <a:rPr lang="en-US"/>
              <a:t> de </a:t>
            </a:r>
            <a:r>
              <a:rPr lang="en-US" err="1"/>
              <a:t>siempre</a:t>
            </a:r>
            <a:r>
              <a:rPr lang="en-US"/>
              <a:t> se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yendo</a:t>
            </a:r>
            <a:r>
              <a:rPr lang="en-US"/>
              <a:t>.</a:t>
            </a:r>
            <a:br>
              <a:rPr lang="en-US"/>
            </a:br>
            <a:r>
              <a:rPr lang="en-US"/>
              <a:t>A la </a:t>
            </a:r>
            <a:r>
              <a:rPr lang="en-US" err="1"/>
              <a:t>derecha</a:t>
            </a:r>
            <a:r>
              <a:rPr lang="en-US"/>
              <a:t>: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 con </a:t>
            </a:r>
            <a:r>
              <a:rPr lang="en-US" err="1"/>
              <a:t>que</a:t>
            </a:r>
            <a:r>
              <a:rPr lang="en-US"/>
              <a:t> se repone </a:t>
            </a:r>
            <a:r>
              <a:rPr lang="en-US" err="1"/>
              <a:t>esa</a:t>
            </a:r>
            <a:r>
              <a:rPr lang="en-US"/>
              <a:t> </a:t>
            </a:r>
            <a:r>
              <a:rPr lang="en-US" err="1"/>
              <a:t>pérdida</a:t>
            </a:r>
            <a:r>
              <a:rPr lang="en-US"/>
              <a:t> </a:t>
            </a:r>
            <a:r>
              <a:rPr lang="en-US" err="1"/>
              <a:t>vuelven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.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llegaron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enero</a:t>
            </a:r>
            <a:r>
              <a:rPr lang="en-US"/>
              <a:t>, el 84% </a:t>
            </a:r>
            <a:r>
              <a:rPr lang="en-US" err="1"/>
              <a:t>volvió</a:t>
            </a:r>
            <a:r>
              <a:rPr lang="en-US"/>
              <a:t> a </a:t>
            </a:r>
            <a:r>
              <a:rPr lang="en-US" err="1"/>
              <a:t>comprar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de 90 días;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llegaron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septiembre</a:t>
            </a:r>
            <a:r>
              <a:rPr lang="en-US"/>
              <a:t>, solo el 58%.</a:t>
            </a:r>
            <a:br>
              <a:rPr lang="en-US"/>
            </a:br>
            <a:r>
              <a:rPr lang="en-US" err="1"/>
              <a:t>Entonces</a:t>
            </a:r>
            <a:r>
              <a:rPr lang="en-US"/>
              <a:t>, para </a:t>
            </a:r>
            <a:r>
              <a:rPr lang="en-US" err="1"/>
              <a:t>mantener</a:t>
            </a:r>
            <a:r>
              <a:rPr lang="en-US"/>
              <a:t> las </a:t>
            </a:r>
            <a:r>
              <a:rPr lang="en-US" err="1"/>
              <a:t>ventas</a:t>
            </a:r>
            <a:r>
              <a:rPr lang="en-US"/>
              <a:t> </a:t>
            </a:r>
            <a:r>
              <a:rPr lang="en-US" err="1"/>
              <a:t>planas</a:t>
            </a:r>
            <a:r>
              <a:rPr lang="en-US"/>
              <a:t> la </a:t>
            </a:r>
            <a:r>
              <a:rPr lang="en-US" err="1"/>
              <a:t>cadena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captar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.”</a:t>
            </a:r>
            <a:br>
              <a:rPr lang="en-US"/>
            </a:br>
            <a:r>
              <a:rPr lang="en-US"/>
              <a:t>Si </a:t>
            </a:r>
            <a:r>
              <a:rPr lang="en-US" err="1"/>
              <a:t>preguntan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la </a:t>
            </a:r>
            <a:r>
              <a:rPr lang="en-US" err="1"/>
              <a:t>fecha</a:t>
            </a:r>
            <a:r>
              <a:rPr lang="en-US"/>
              <a:t> de </a:t>
            </a:r>
            <a:r>
              <a:rPr lang="en-US" err="1"/>
              <a:t>alta</a:t>
            </a:r>
            <a:r>
              <a:rPr lang="en-US"/>
              <a:t>: “</a:t>
            </a:r>
            <a:r>
              <a:rPr lang="en-US" err="1"/>
              <a:t>Ustedes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dijeron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la </a:t>
            </a:r>
            <a:r>
              <a:rPr lang="en-US" err="1"/>
              <a:t>fecha</a:t>
            </a:r>
            <a:r>
              <a:rPr lang="en-US"/>
              <a:t> de </a:t>
            </a:r>
            <a:r>
              <a:rPr lang="en-US" err="1"/>
              <a:t>alta</a:t>
            </a:r>
            <a:r>
              <a:rPr lang="en-US"/>
              <a:t> era la </a:t>
            </a:r>
            <a:r>
              <a:rPr lang="en-US" err="1"/>
              <a:t>primera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. Lo </a:t>
            </a:r>
            <a:r>
              <a:rPr lang="en-US" err="1"/>
              <a:t>revisamos</a:t>
            </a:r>
            <a:r>
              <a:rPr lang="en-US"/>
              <a:t>: 311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el </a:t>
            </a:r>
            <a:r>
              <a:rPr lang="en-US" err="1"/>
              <a:t>alta</a:t>
            </a:r>
            <a:r>
              <a:rPr lang="en-US"/>
              <a:t> </a:t>
            </a:r>
            <a:r>
              <a:rPr lang="en-US" err="1"/>
              <a:t>después</a:t>
            </a:r>
            <a:r>
              <a:rPr lang="en-US"/>
              <a:t> de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primera</a:t>
            </a:r>
            <a:r>
              <a:rPr lang="en-US"/>
              <a:t> </a:t>
            </a:r>
            <a:r>
              <a:rPr lang="en-US" err="1"/>
              <a:t>boleta</a:t>
            </a:r>
            <a:r>
              <a:rPr lang="en-US"/>
              <a:t>, </a:t>
            </a:r>
            <a:r>
              <a:rPr lang="en-US" err="1"/>
              <a:t>así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el </a:t>
            </a:r>
            <a:r>
              <a:rPr lang="en-US" err="1"/>
              <a:t>alta</a:t>
            </a:r>
            <a:r>
              <a:rPr lang="en-US"/>
              <a:t> es la </a:t>
            </a:r>
            <a:r>
              <a:rPr lang="en-US" err="1"/>
              <a:t>inscripción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tarjeta</a:t>
            </a:r>
            <a:r>
              <a:rPr lang="en-US"/>
              <a:t>. La </a:t>
            </a:r>
            <a:r>
              <a:rPr lang="en-US" err="1"/>
              <a:t>usamos</a:t>
            </a:r>
            <a:r>
              <a:rPr lang="en-US"/>
              <a:t> solo para </a:t>
            </a:r>
            <a:r>
              <a:rPr lang="en-US" err="1"/>
              <a:t>separar</a:t>
            </a:r>
            <a:r>
              <a:rPr lang="en-US"/>
              <a:t>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antiguos</a:t>
            </a:r>
            <a:r>
              <a:rPr lang="en-US"/>
              <a:t> de </a:t>
            </a:r>
            <a:r>
              <a:rPr lang="en-US" err="1"/>
              <a:t>nuevos</a:t>
            </a:r>
            <a:r>
              <a:rPr lang="en-US"/>
              <a:t>.”</a:t>
            </a:r>
            <a:br>
              <a:rPr lang="en-US"/>
            </a:br>
            <a:r>
              <a:rPr lang="en-US"/>
              <a:t>Pasar a la </a:t>
            </a:r>
            <a:r>
              <a:rPr lang="en-US" err="1"/>
              <a:t>siguiente</a:t>
            </a:r>
            <a:r>
              <a:rPr lang="en-US"/>
              <a:t>.</a:t>
            </a:r>
          </a:p>
          <a:p>
            <a:endParaRPr lang="es-CL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7A7C4AB2-5FF3-255F-7D45-2B8B3024D9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6246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[1:30 · LA LÁMINA QUE MÁS PESA: 30% DE LA NOTA ES DEFENDER ESTO]</a:t>
            </a:r>
            <a:br>
              <a:rPr lang="en-US"/>
            </a:br>
            <a:r>
              <a:rPr lang="en-US"/>
              <a:t>“</a:t>
            </a:r>
            <a:r>
              <a:rPr lang="en-US" err="1"/>
              <a:t>Ustedes</a:t>
            </a:r>
            <a:r>
              <a:rPr lang="en-US"/>
              <a:t> no </a:t>
            </a:r>
            <a:r>
              <a:rPr lang="en-US" err="1"/>
              <a:t>tenían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definición</a:t>
            </a:r>
            <a:r>
              <a:rPr lang="en-US"/>
              <a:t> de </a:t>
            </a:r>
            <a:r>
              <a:rPr lang="en-US" err="1"/>
              <a:t>cuándo</a:t>
            </a:r>
            <a:r>
              <a:rPr lang="en-US"/>
              <a:t> un </a:t>
            </a:r>
            <a:r>
              <a:rPr lang="en-US" err="1"/>
              <a:t>cliente</a:t>
            </a:r>
            <a:r>
              <a:rPr lang="en-US"/>
              <a:t> </a:t>
            </a:r>
            <a:r>
              <a:rPr lang="en-US" err="1"/>
              <a:t>deja</a:t>
            </a:r>
            <a:r>
              <a:rPr lang="en-US"/>
              <a:t> de </a:t>
            </a:r>
            <a:r>
              <a:rPr lang="en-US" err="1"/>
              <a:t>serlo</a:t>
            </a:r>
            <a:r>
              <a:rPr lang="en-US"/>
              <a:t>. Nos </a:t>
            </a:r>
            <a:r>
              <a:rPr lang="en-US" err="1"/>
              <a:t>dijeron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creían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era un </a:t>
            </a:r>
            <a:r>
              <a:rPr lang="en-US" err="1"/>
              <a:t>mes</a:t>
            </a:r>
            <a:r>
              <a:rPr lang="en-US"/>
              <a:t>,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era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creencia</a:t>
            </a:r>
            <a:r>
              <a:rPr lang="en-US"/>
              <a:t>. </a:t>
            </a:r>
            <a:r>
              <a:rPr lang="en-US" err="1"/>
              <a:t>Así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tuvimos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cerrarla</a:t>
            </a:r>
            <a:r>
              <a:rPr lang="en-US"/>
              <a:t>.</a:t>
            </a:r>
            <a:br>
              <a:rPr lang="en-US"/>
            </a:br>
            <a:r>
              <a:rPr lang="en-US" err="1"/>
              <a:t>Elegimos</a:t>
            </a:r>
            <a:r>
              <a:rPr lang="en-US"/>
              <a:t> 90 días. ¿Por </a:t>
            </a:r>
            <a:r>
              <a:rPr lang="en-US" err="1"/>
              <a:t>qué</a:t>
            </a:r>
            <a:r>
              <a:rPr lang="en-US"/>
              <a:t>? </a:t>
            </a:r>
            <a:r>
              <a:rPr lang="en-US" err="1"/>
              <a:t>Porque</a:t>
            </a:r>
            <a:r>
              <a:rPr lang="en-US"/>
              <a:t> </a:t>
            </a:r>
            <a:r>
              <a:rPr lang="en-US" err="1"/>
              <a:t>medimos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cuánto</a:t>
            </a:r>
            <a:r>
              <a:rPr lang="en-US"/>
              <a:t> </a:t>
            </a:r>
            <a:r>
              <a:rPr lang="en-US" err="1"/>
              <a:t>vuelve</a:t>
            </a:r>
            <a:r>
              <a:rPr lang="en-US"/>
              <a:t> un </a:t>
            </a:r>
            <a:r>
              <a:rPr lang="en-US" err="1"/>
              <a:t>mismo</a:t>
            </a:r>
            <a:r>
              <a:rPr lang="en-US"/>
              <a:t> </a:t>
            </a:r>
            <a:r>
              <a:rPr lang="en-US" err="1"/>
              <a:t>cliente</a:t>
            </a:r>
            <a:r>
              <a:rPr lang="en-US"/>
              <a:t>: la </a:t>
            </a:r>
            <a:r>
              <a:rPr lang="en-US" err="1"/>
              <a:t>mitad</a:t>
            </a:r>
            <a:r>
              <a:rPr lang="en-US"/>
              <a:t> de las </a:t>
            </a:r>
            <a:r>
              <a:rPr lang="en-US" err="1"/>
              <a:t>veces</a:t>
            </a:r>
            <a:r>
              <a:rPr lang="en-US"/>
              <a:t> </a:t>
            </a:r>
            <a:r>
              <a:rPr lang="en-US" err="1"/>
              <a:t>vuelve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13 días, </a:t>
            </a:r>
            <a:r>
              <a:rPr lang="en-US" err="1"/>
              <a:t>pero</a:t>
            </a:r>
            <a:r>
              <a:rPr lang="en-US"/>
              <a:t> el 28% de las </a:t>
            </a:r>
            <a:r>
              <a:rPr lang="en-US" err="1"/>
              <a:t>pausas</a:t>
            </a:r>
            <a:r>
              <a:rPr lang="en-US"/>
              <a:t> </a:t>
            </a:r>
            <a:r>
              <a:rPr lang="en-US" err="1"/>
              <a:t>normales</a:t>
            </a:r>
            <a:r>
              <a:rPr lang="en-US"/>
              <a:t> dura </a:t>
            </a:r>
            <a:r>
              <a:rPr lang="en-US" err="1"/>
              <a:t>más</a:t>
            </a:r>
            <a:r>
              <a:rPr lang="en-US"/>
              <a:t> de 30 días. Con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ventana</a:t>
            </a:r>
            <a:r>
              <a:rPr lang="en-US"/>
              <a:t> de un </a:t>
            </a:r>
            <a:r>
              <a:rPr lang="en-US" err="1"/>
              <a:t>mes</a:t>
            </a:r>
            <a:r>
              <a:rPr lang="en-US"/>
              <a:t>, a un </a:t>
            </a:r>
            <a:r>
              <a:rPr lang="en-US" err="1"/>
              <a:t>cliente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cinco</a:t>
            </a:r>
            <a:r>
              <a:rPr lang="en-US"/>
              <a:t> </a:t>
            </a:r>
            <a:r>
              <a:rPr lang="en-US" err="1"/>
              <a:t>semanas</a:t>
            </a:r>
            <a:r>
              <a:rPr lang="en-US"/>
              <a:t> lo </a:t>
            </a:r>
            <a:r>
              <a:rPr lang="en-US" err="1"/>
              <a:t>daríamos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perdido</a:t>
            </a:r>
            <a:r>
              <a:rPr lang="en-US"/>
              <a:t>. Con 90 días, </a:t>
            </a:r>
            <a:r>
              <a:rPr lang="en-US" err="1"/>
              <a:t>eso</a:t>
            </a:r>
            <a:r>
              <a:rPr lang="en-US"/>
              <a:t> </a:t>
            </a:r>
            <a:r>
              <a:rPr lang="en-US" err="1"/>
              <a:t>pasa</a:t>
            </a:r>
            <a:r>
              <a:rPr lang="en-US"/>
              <a:t> solo </a:t>
            </a:r>
            <a:r>
              <a:rPr lang="en-US" err="1"/>
              <a:t>en</a:t>
            </a:r>
            <a:r>
              <a:rPr lang="en-US"/>
              <a:t> el 7%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casos</a:t>
            </a:r>
            <a:r>
              <a:rPr lang="en-US"/>
              <a:t>.</a:t>
            </a:r>
            <a:br>
              <a:rPr lang="en-US"/>
            </a:br>
            <a:r>
              <a:rPr lang="en-US"/>
              <a:t>Y lo </a:t>
            </a:r>
            <a:r>
              <a:rPr lang="en-US" err="1"/>
              <a:t>importante</a:t>
            </a:r>
            <a:r>
              <a:rPr lang="en-US"/>
              <a:t>: </a:t>
            </a:r>
            <a:r>
              <a:rPr lang="en-US" err="1"/>
              <a:t>probamos</a:t>
            </a:r>
            <a:r>
              <a:rPr lang="en-US"/>
              <a:t> las </a:t>
            </a:r>
            <a:r>
              <a:rPr lang="en-US" err="1"/>
              <a:t>tres</a:t>
            </a:r>
            <a:r>
              <a:rPr lang="en-US"/>
              <a:t> </a:t>
            </a:r>
            <a:r>
              <a:rPr lang="en-US" err="1"/>
              <a:t>ventanas</a:t>
            </a:r>
            <a:r>
              <a:rPr lang="en-US"/>
              <a:t>. Con 30 días la </a:t>
            </a:r>
            <a:r>
              <a:rPr lang="en-US" err="1"/>
              <a:t>retención</a:t>
            </a:r>
            <a:r>
              <a:rPr lang="en-US"/>
              <a:t> es 19%; con 90, 41,5%; con 180, 58,6%. El </a:t>
            </a:r>
            <a:r>
              <a:rPr lang="en-US" err="1"/>
              <a:t>número</a:t>
            </a:r>
            <a:r>
              <a:rPr lang="en-US"/>
              <a:t> cambia </a:t>
            </a:r>
            <a:r>
              <a:rPr lang="en-US" err="1"/>
              <a:t>mucho</a:t>
            </a:r>
            <a:r>
              <a:rPr lang="en-US"/>
              <a:t> —17 puntos entre 90 y 180—, </a:t>
            </a:r>
            <a:r>
              <a:rPr lang="en-US" err="1"/>
              <a:t>pero</a:t>
            </a:r>
            <a:r>
              <a:rPr lang="en-US"/>
              <a:t> la </a:t>
            </a:r>
            <a:r>
              <a:rPr lang="en-US" err="1"/>
              <a:t>conclusión</a:t>
            </a:r>
            <a:r>
              <a:rPr lang="en-US"/>
              <a:t> no: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tres</a:t>
            </a:r>
            <a:r>
              <a:rPr lang="en-US"/>
              <a:t> 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de la </a:t>
            </a:r>
            <a:r>
              <a:rPr lang="en-US" err="1"/>
              <a:t>mitad</a:t>
            </a:r>
            <a:r>
              <a:rPr lang="en-US"/>
              <a:t> de la base de </a:t>
            </a:r>
            <a:r>
              <a:rPr lang="en-US" err="1"/>
              <a:t>diciembre</a:t>
            </a:r>
            <a:r>
              <a:rPr lang="en-US"/>
              <a:t> son </a:t>
            </a:r>
            <a:r>
              <a:rPr lang="en-US" err="1"/>
              <a:t>reemplazos</a:t>
            </a:r>
            <a:r>
              <a:rPr lang="en-US"/>
              <a:t>. </a:t>
            </a:r>
            <a:r>
              <a:rPr lang="en-US" err="1"/>
              <a:t>Elegimos</a:t>
            </a:r>
            <a:r>
              <a:rPr lang="en-US"/>
              <a:t> 90 y no 30 </a:t>
            </a:r>
            <a:r>
              <a:rPr lang="en-US" err="1"/>
              <a:t>justamente</a:t>
            </a:r>
            <a:r>
              <a:rPr lang="en-US"/>
              <a:t> </a:t>
            </a:r>
            <a:r>
              <a:rPr lang="en-US" err="1"/>
              <a:t>porque</a:t>
            </a:r>
            <a:r>
              <a:rPr lang="en-US"/>
              <a:t> con 30 el </a:t>
            </a:r>
            <a:r>
              <a:rPr lang="en-US" err="1"/>
              <a:t>resultado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daba</a:t>
            </a:r>
            <a:r>
              <a:rPr lang="en-US"/>
              <a:t> </a:t>
            </a:r>
            <a:r>
              <a:rPr lang="en-US" err="1"/>
              <a:t>aún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a favor; </a:t>
            </a:r>
            <a:r>
              <a:rPr lang="en-US" err="1"/>
              <a:t>preferimos</a:t>
            </a:r>
            <a:r>
              <a:rPr lang="en-US"/>
              <a:t> la </a:t>
            </a:r>
            <a:r>
              <a:rPr lang="en-US" err="1"/>
              <a:t>definición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favorece</a:t>
            </a:r>
            <a:r>
              <a:rPr lang="en-US"/>
              <a:t> entre las </a:t>
            </a:r>
            <a:r>
              <a:rPr lang="en-US" err="1"/>
              <a:t>razonables</a:t>
            </a:r>
            <a:r>
              <a:rPr lang="en-US"/>
              <a:t>.</a:t>
            </a:r>
            <a:br>
              <a:rPr lang="en-US"/>
            </a:br>
            <a:r>
              <a:rPr lang="en-US"/>
              <a:t>Segunda </a:t>
            </a:r>
            <a:r>
              <a:rPr lang="en-US" err="1"/>
              <a:t>decisión</a:t>
            </a:r>
            <a:r>
              <a:rPr lang="en-US"/>
              <a:t>: </a:t>
            </a:r>
            <a:r>
              <a:rPr lang="en-US" err="1"/>
              <a:t>cliente</a:t>
            </a:r>
            <a:r>
              <a:rPr lang="en-US"/>
              <a:t> nuevo es el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inscribió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2025, no el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hizo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primera</a:t>
            </a:r>
            <a:r>
              <a:rPr lang="en-US"/>
              <a:t> </a:t>
            </a:r>
            <a:r>
              <a:rPr lang="en-US" err="1"/>
              <a:t>boleta</a:t>
            </a:r>
            <a:r>
              <a:rPr lang="en-US"/>
              <a:t> del </a:t>
            </a:r>
            <a:r>
              <a:rPr lang="en-US" err="1"/>
              <a:t>año</a:t>
            </a:r>
            <a:r>
              <a:rPr lang="en-US"/>
              <a:t>, </a:t>
            </a:r>
            <a:r>
              <a:rPr lang="en-US" err="1"/>
              <a:t>porque</a:t>
            </a:r>
            <a:r>
              <a:rPr lang="en-US"/>
              <a:t> </a:t>
            </a:r>
            <a:r>
              <a:rPr lang="en-US" err="1"/>
              <a:t>eso</a:t>
            </a:r>
            <a:r>
              <a:rPr lang="en-US"/>
              <a:t> </a:t>
            </a:r>
            <a:r>
              <a:rPr lang="en-US" err="1"/>
              <a:t>contaría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nuevos</a:t>
            </a:r>
            <a:r>
              <a:rPr lang="en-US"/>
              <a:t> a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antiguos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vuelven</a:t>
            </a:r>
            <a:r>
              <a:rPr lang="en-US"/>
              <a:t>.”</a:t>
            </a:r>
            <a:br>
              <a:rPr lang="en-US"/>
            </a:br>
            <a:r>
              <a:rPr lang="en-US"/>
              <a:t>PREGUNTAS PROBABLES:</a:t>
            </a:r>
            <a:br>
              <a:rPr lang="en-US"/>
            </a:br>
            <a:r>
              <a:rPr lang="en-US"/>
              <a:t>• “¿Por </a:t>
            </a:r>
            <a:r>
              <a:rPr lang="en-US" err="1"/>
              <a:t>qué</a:t>
            </a:r>
            <a:r>
              <a:rPr lang="en-US"/>
              <a:t> no 365 días?” → Solo hay </a:t>
            </a:r>
            <a:r>
              <a:rPr lang="en-US" err="1"/>
              <a:t>datos</a:t>
            </a:r>
            <a:r>
              <a:rPr lang="en-US"/>
              <a:t> de 2025: no se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calcular</a:t>
            </a:r>
            <a:r>
              <a:rPr lang="en-US"/>
              <a:t>.</a:t>
            </a:r>
            <a:br>
              <a:rPr lang="en-US"/>
            </a:br>
            <a:r>
              <a:rPr lang="en-US"/>
              <a:t>• “¿Por </a:t>
            </a:r>
            <a:r>
              <a:rPr lang="en-US" err="1"/>
              <a:t>qué</a:t>
            </a:r>
            <a:r>
              <a:rPr lang="en-US"/>
              <a:t> no </a:t>
            </a:r>
            <a:r>
              <a:rPr lang="en-US" err="1"/>
              <a:t>medir</a:t>
            </a:r>
            <a:r>
              <a:rPr lang="en-US"/>
              <a:t> </a:t>
            </a:r>
            <a:r>
              <a:rPr lang="en-US" err="1"/>
              <a:t>mes</a:t>
            </a:r>
            <a:r>
              <a:rPr lang="en-US"/>
              <a:t> a </a:t>
            </a:r>
            <a:r>
              <a:rPr lang="en-US" err="1"/>
              <a:t>mes</a:t>
            </a:r>
            <a:r>
              <a:rPr lang="en-US"/>
              <a:t>?” → Con </a:t>
            </a:r>
            <a:r>
              <a:rPr lang="en-US" err="1"/>
              <a:t>ventana</a:t>
            </a:r>
            <a:r>
              <a:rPr lang="en-US"/>
              <a:t> de 90 días, el </a:t>
            </a:r>
            <a:r>
              <a:rPr lang="en-US" err="1"/>
              <a:t>mismo</a:t>
            </a:r>
            <a:r>
              <a:rPr lang="en-US"/>
              <a:t> </a:t>
            </a:r>
            <a:r>
              <a:rPr lang="en-US" err="1"/>
              <a:t>cliente</a:t>
            </a:r>
            <a:r>
              <a:rPr lang="en-US"/>
              <a:t> </a:t>
            </a:r>
            <a:r>
              <a:rPr lang="en-US" err="1"/>
              <a:t>contaría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activo</a:t>
            </a:r>
            <a:r>
              <a:rPr lang="en-US"/>
              <a:t> </a:t>
            </a:r>
            <a:r>
              <a:rPr lang="en-US" err="1"/>
              <a:t>tres</a:t>
            </a:r>
            <a:r>
              <a:rPr lang="en-US"/>
              <a:t> meses </a:t>
            </a:r>
            <a:r>
              <a:rPr lang="en-US" err="1"/>
              <a:t>seguidos</a:t>
            </a:r>
            <a:r>
              <a:rPr lang="en-US"/>
              <a:t> y la </a:t>
            </a:r>
            <a:r>
              <a:rPr lang="en-US" err="1"/>
              <a:t>retención</a:t>
            </a:r>
            <a:r>
              <a:rPr lang="en-US"/>
              <a:t> se </a:t>
            </a:r>
            <a:r>
              <a:rPr lang="en-US" err="1"/>
              <a:t>inflaría</a:t>
            </a:r>
            <a:r>
              <a:rPr lang="en-US"/>
              <a:t>. Por </a:t>
            </a:r>
            <a:r>
              <a:rPr lang="en-US" err="1"/>
              <a:t>eso</a:t>
            </a:r>
            <a:r>
              <a:rPr lang="en-US"/>
              <a:t> </a:t>
            </a:r>
            <a:r>
              <a:rPr lang="en-US" err="1"/>
              <a:t>comparamos</a:t>
            </a:r>
            <a:r>
              <a:rPr lang="en-US"/>
              <a:t> dos </a:t>
            </a:r>
            <a:r>
              <a:rPr lang="en-US" err="1"/>
              <a:t>fotos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no se </a:t>
            </a:r>
            <a:r>
              <a:rPr lang="en-US" err="1"/>
              <a:t>traslapan</a:t>
            </a:r>
            <a:r>
              <a:rPr lang="en-US"/>
              <a:t>.</a:t>
            </a:r>
            <a:br>
              <a:rPr lang="en-US"/>
            </a:br>
            <a:r>
              <a:rPr lang="en-US"/>
              <a:t>• “¿</a:t>
            </a:r>
            <a:r>
              <a:rPr lang="en-US" err="1"/>
              <a:t>Diciembre</a:t>
            </a:r>
            <a:r>
              <a:rPr lang="en-US"/>
              <a:t> no </a:t>
            </a:r>
            <a:r>
              <a:rPr lang="en-US" err="1"/>
              <a:t>distorsiona</a:t>
            </a:r>
            <a:r>
              <a:rPr lang="en-US"/>
              <a:t>?” →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hacer</a:t>
            </a:r>
            <a:r>
              <a:rPr lang="en-US"/>
              <a:t> </a:t>
            </a:r>
            <a:r>
              <a:rPr lang="en-US" err="1"/>
              <a:t>ver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a </a:t>
            </a:r>
            <a:r>
              <a:rPr lang="en-US" err="1"/>
              <a:t>clientes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solo </a:t>
            </a:r>
            <a:r>
              <a:rPr lang="en-US" err="1"/>
              <a:t>vienen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fiestas; </a:t>
            </a:r>
            <a:r>
              <a:rPr lang="en-US" err="1"/>
              <a:t>eso</a:t>
            </a:r>
            <a:r>
              <a:rPr lang="en-US"/>
              <a:t> SUBE la </a:t>
            </a:r>
            <a:r>
              <a:rPr lang="en-US" err="1"/>
              <a:t>retención</a:t>
            </a:r>
            <a:r>
              <a:rPr lang="en-US"/>
              <a:t>, o sea </a:t>
            </a:r>
            <a:r>
              <a:rPr lang="en-US" err="1"/>
              <a:t>juega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contra de </a:t>
            </a:r>
            <a:r>
              <a:rPr lang="en-US" err="1"/>
              <a:t>nuestra</a:t>
            </a:r>
            <a:r>
              <a:rPr lang="en-US"/>
              <a:t> </a:t>
            </a:r>
            <a:r>
              <a:rPr lang="en-US" err="1"/>
              <a:t>conclusión</a:t>
            </a:r>
            <a:r>
              <a:rPr lang="en-US"/>
              <a:t>.</a:t>
            </a:r>
            <a:br>
              <a:rPr lang="en-US"/>
            </a:br>
            <a:r>
              <a:rPr lang="en-US"/>
              <a:t>• “¿Y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anónimos</a:t>
            </a:r>
            <a:r>
              <a:rPr lang="en-US"/>
              <a:t>?” → Son el 13% de las </a:t>
            </a:r>
            <a:r>
              <a:rPr lang="en-US" err="1"/>
              <a:t>boletas</a:t>
            </a:r>
            <a:r>
              <a:rPr lang="en-US"/>
              <a:t> y el 6% del </a:t>
            </a:r>
            <a:r>
              <a:rPr lang="en-US" err="1"/>
              <a:t>ingreso</a:t>
            </a:r>
            <a:r>
              <a:rPr lang="en-US"/>
              <a:t>. Sin </a:t>
            </a:r>
            <a:r>
              <a:rPr lang="en-US" err="1"/>
              <a:t>tarjeta</a:t>
            </a:r>
            <a:r>
              <a:rPr lang="en-US"/>
              <a:t> no se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a </a:t>
            </a:r>
            <a:r>
              <a:rPr lang="en-US" err="1"/>
              <a:t>nadie</a:t>
            </a:r>
            <a:r>
              <a:rPr lang="en-US"/>
              <a:t>; </a:t>
            </a:r>
            <a:r>
              <a:rPr lang="en-US" err="1"/>
              <a:t>quedan</a:t>
            </a:r>
            <a:r>
              <a:rPr lang="en-US"/>
              <a:t> fuera y lo </a:t>
            </a:r>
            <a:r>
              <a:rPr lang="en-US" err="1"/>
              <a:t>declaramos</a:t>
            </a:r>
            <a:r>
              <a:rPr lang="en-US"/>
              <a:t>.</a:t>
            </a: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r>
              <a:rPr lang="es-ES" b="1"/>
              <a:t>Tiempo objetivo: 1 minuto y 25 segundos</a:t>
            </a:r>
            <a:endParaRPr lang="es-ES"/>
          </a:p>
          <a:p>
            <a:r>
              <a:rPr lang="es-ES"/>
              <a:t>Ahora hay una decisión fundamental detrás de estos resultados: ¿cuándo consideramos que un cliente está activo?</a:t>
            </a:r>
          </a:p>
          <a:p>
            <a:r>
              <a:rPr lang="es-ES"/>
              <a:t>Ustedes nos mencionaron un mes como referencia, pero no existía una definición oficial.</a:t>
            </a:r>
          </a:p>
          <a:p>
            <a:r>
              <a:rPr lang="es-ES"/>
              <a:t>Por eso analizamos los intervalos entre compras y encontramos que </a:t>
            </a:r>
            <a:r>
              <a:rPr lang="es-ES" b="1"/>
              <a:t>el 93% no supera los 90 días</a:t>
            </a:r>
            <a:r>
              <a:rPr lang="es-ES"/>
              <a:t>.</a:t>
            </a:r>
          </a:p>
          <a:p>
            <a:r>
              <a:rPr lang="es-ES"/>
              <a:t>En cambio, con una ventana de solamente 30 días, el 28% de las pausas observadas superaría ese límite. Por ejemplo, un cliente que compra cada cinco semanas podría clasificarse erróneamente como inactivo.</a:t>
            </a:r>
          </a:p>
          <a:p>
            <a:r>
              <a:rPr lang="es-ES"/>
              <a:t>Por eso elegimos 90 días.</a:t>
            </a:r>
          </a:p>
          <a:p>
            <a:r>
              <a:rPr lang="es-ES"/>
              <a:t>Pero ¿qué ocurre si cambiamos esta definición?</a:t>
            </a:r>
          </a:p>
          <a:p>
            <a:r>
              <a:rPr lang="es-ES"/>
              <a:t>Con 30 días, la retención sería de un 18,6%; con 90 días, de un 41,5%; y con 180 días, de un 58,6%.</a:t>
            </a:r>
          </a:p>
          <a:p>
            <a:r>
              <a:rPr lang="es-ES"/>
              <a:t>Las cifras cambian bastante. Sin embargo, fíjense en la última columna: </a:t>
            </a:r>
            <a:r>
              <a:rPr lang="es-ES" b="1"/>
              <a:t>en los tres casos, más de la mitad de los clientes activos en diciembre son reemplazos respecto de junio.</a:t>
            </a:r>
            <a:endParaRPr lang="es-ES"/>
          </a:p>
          <a:p>
            <a:r>
              <a:rPr lang="es-ES"/>
              <a:t>Por lo tanto, aunque la cifra exacta depende de la definición utilizada, nuestra conclusión se mantiene.</a:t>
            </a:r>
          </a:p>
          <a:p>
            <a:r>
              <a:rPr lang="es-ES"/>
              <a:t>También tuvimos que definir qué entendemos por cliente nuevo. Decidimos considerar a quienes se inscribieron durante 2025, porque tomar simplemente la primera compra del año habría confundido a clientes nuevos con antiguos que regresaron.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[0:45 · ÚNICA LÁMINA TÉCNICA, PASARLA RÁPIDO]</a:t>
            </a:r>
            <a:br>
              <a:rPr lang="en-US"/>
            </a:br>
            <a:r>
              <a:rPr lang="en-US"/>
              <a:t>“</a:t>
            </a:r>
            <a:r>
              <a:rPr lang="en-US" err="1"/>
              <a:t>Brevemente</a:t>
            </a:r>
            <a:r>
              <a:rPr lang="en-US"/>
              <a:t>, </a:t>
            </a:r>
            <a:r>
              <a:rPr lang="en-US" err="1"/>
              <a:t>cómo</a:t>
            </a:r>
            <a:r>
              <a:rPr lang="en-US"/>
              <a:t> </a:t>
            </a:r>
            <a:r>
              <a:rPr lang="en-US" err="1"/>
              <a:t>llegamos</a:t>
            </a:r>
            <a:r>
              <a:rPr lang="en-US"/>
              <a:t> al </a:t>
            </a:r>
            <a:r>
              <a:rPr lang="en-US" err="1"/>
              <a:t>número</a:t>
            </a:r>
            <a:r>
              <a:rPr lang="en-US"/>
              <a:t>. </a:t>
            </a:r>
            <a:r>
              <a:rPr lang="en-US" err="1"/>
              <a:t>Integramos</a:t>
            </a:r>
            <a:r>
              <a:rPr lang="en-US"/>
              <a:t> las cuatro </a:t>
            </a:r>
            <a:r>
              <a:rPr lang="en-US" err="1"/>
              <a:t>fuentes</a:t>
            </a:r>
            <a:r>
              <a:rPr lang="en-US"/>
              <a:t>: la base de </a:t>
            </a:r>
            <a:r>
              <a:rPr lang="en-US" err="1"/>
              <a:t>ventas</a:t>
            </a:r>
            <a:r>
              <a:rPr lang="en-US"/>
              <a:t>, el maestro de </a:t>
            </a:r>
            <a:r>
              <a:rPr lang="en-US" err="1"/>
              <a:t>productos</a:t>
            </a:r>
            <a:r>
              <a:rPr lang="en-US"/>
              <a:t>, las </a:t>
            </a:r>
            <a:r>
              <a:rPr lang="en-US" err="1"/>
              <a:t>campañas</a:t>
            </a:r>
            <a:r>
              <a:rPr lang="en-US"/>
              <a:t> y el IPC </a:t>
            </a:r>
            <a:r>
              <a:rPr lang="en-US" err="1"/>
              <a:t>mensual</a:t>
            </a:r>
            <a:r>
              <a:rPr lang="en-US"/>
              <a:t> </a:t>
            </a:r>
            <a:r>
              <a:rPr lang="en-US" err="1"/>
              <a:t>desde</a:t>
            </a:r>
            <a:r>
              <a:rPr lang="en-US"/>
              <a:t> la API de </a:t>
            </a:r>
            <a:r>
              <a:rPr lang="en-US" err="1"/>
              <a:t>mindicador.cl</a:t>
            </a:r>
            <a:r>
              <a:rPr lang="en-US"/>
              <a:t>. Cada fila del </a:t>
            </a:r>
            <a:r>
              <a:rPr lang="en-US" err="1"/>
              <a:t>modelo</a:t>
            </a:r>
            <a:r>
              <a:rPr lang="en-US"/>
              <a:t> es un </a:t>
            </a:r>
            <a:r>
              <a:rPr lang="en-US" err="1"/>
              <a:t>producto</a:t>
            </a:r>
            <a:r>
              <a:rPr lang="en-US"/>
              <a:t> </a:t>
            </a:r>
            <a:r>
              <a:rPr lang="en-US" err="1"/>
              <a:t>vendido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boleta</a:t>
            </a:r>
            <a:r>
              <a:rPr lang="en-US"/>
              <a:t>; </a:t>
            </a:r>
            <a:r>
              <a:rPr lang="en-US" err="1"/>
              <a:t>una</a:t>
            </a:r>
            <a:r>
              <a:rPr lang="en-US"/>
              <a:t> visita es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boleta</a:t>
            </a:r>
            <a:r>
              <a:rPr lang="en-US"/>
              <a:t> con </a:t>
            </a:r>
            <a:r>
              <a:rPr lang="en-US" err="1"/>
              <a:t>monto</a:t>
            </a:r>
            <a:r>
              <a:rPr lang="en-US"/>
              <a:t> </a:t>
            </a:r>
            <a:r>
              <a:rPr lang="en-US" err="1"/>
              <a:t>positivo</a:t>
            </a:r>
            <a:r>
              <a:rPr lang="en-US"/>
              <a:t>,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devolución</a:t>
            </a:r>
            <a:r>
              <a:rPr lang="en-US"/>
              <a:t> no </a:t>
            </a:r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parecer</a:t>
            </a:r>
            <a:r>
              <a:rPr lang="en-US"/>
              <a:t> </a:t>
            </a:r>
            <a:r>
              <a:rPr lang="en-US" err="1"/>
              <a:t>activo</a:t>
            </a:r>
            <a:r>
              <a:rPr lang="en-US"/>
              <a:t> a un </a:t>
            </a:r>
            <a:r>
              <a:rPr lang="en-US" err="1"/>
              <a:t>cliente</a:t>
            </a:r>
            <a:r>
              <a:rPr lang="en-US"/>
              <a:t>.</a:t>
            </a:r>
            <a:br>
              <a:rPr lang="en-US"/>
            </a:br>
            <a:r>
              <a:rPr lang="en-US" err="1"/>
              <a:t>Cubrimos</a:t>
            </a:r>
            <a:r>
              <a:rPr lang="en-US"/>
              <a:t> el 85% de las </a:t>
            </a:r>
            <a:r>
              <a:rPr lang="en-US" err="1"/>
              <a:t>boletas</a:t>
            </a:r>
            <a:r>
              <a:rPr lang="en-US"/>
              <a:t>. El 13% son </a:t>
            </a:r>
            <a:r>
              <a:rPr lang="en-US" err="1"/>
              <a:t>compras</a:t>
            </a:r>
            <a:r>
              <a:rPr lang="en-US"/>
              <a:t> sin </a:t>
            </a:r>
            <a:r>
              <a:rPr lang="en-US" err="1"/>
              <a:t>tarjeta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no se </a:t>
            </a:r>
            <a:r>
              <a:rPr lang="en-US" err="1"/>
              <a:t>pueden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tiempo</a:t>
            </a:r>
            <a:r>
              <a:rPr lang="en-US"/>
              <a:t>, y las </a:t>
            </a:r>
            <a:r>
              <a:rPr lang="en-US" err="1"/>
              <a:t>declaramos</a:t>
            </a:r>
            <a:r>
              <a:rPr lang="en-US"/>
              <a:t> </a:t>
            </a:r>
            <a:r>
              <a:rPr lang="en-US" err="1"/>
              <a:t>aparte</a:t>
            </a:r>
            <a:r>
              <a:rPr lang="en-US"/>
              <a:t>. Todo </a:t>
            </a:r>
            <a:r>
              <a:rPr lang="en-US" err="1"/>
              <a:t>corre</a:t>
            </a:r>
            <a:r>
              <a:rPr lang="en-US"/>
              <a:t> de cero </a:t>
            </a:r>
            <a:r>
              <a:rPr lang="en-US" err="1"/>
              <a:t>desde</a:t>
            </a:r>
            <a:r>
              <a:rPr lang="en-US"/>
              <a:t> el </a:t>
            </a:r>
            <a:r>
              <a:rPr lang="en-US" err="1"/>
              <a:t>repositorio</a:t>
            </a:r>
            <a:r>
              <a:rPr lang="en-US"/>
              <a:t>.”</a:t>
            </a:r>
            <a:br>
              <a:rPr lang="en-US"/>
            </a:br>
            <a:r>
              <a:rPr lang="en-US"/>
              <a:t>Si </a:t>
            </a:r>
            <a:r>
              <a:rPr lang="en-US" err="1"/>
              <a:t>preguntan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calidad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: </a:t>
            </a:r>
            <a:r>
              <a:rPr lang="en-US" err="1"/>
              <a:t>había</a:t>
            </a:r>
            <a:r>
              <a:rPr lang="en-US"/>
              <a:t> </a:t>
            </a:r>
            <a:r>
              <a:rPr lang="en-US" err="1"/>
              <a:t>fechas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cinco</a:t>
            </a:r>
            <a:r>
              <a:rPr lang="en-US"/>
              <a:t> </a:t>
            </a:r>
            <a:r>
              <a:rPr lang="en-US" err="1"/>
              <a:t>formatos</a:t>
            </a:r>
            <a:r>
              <a:rPr lang="en-US"/>
              <a:t>, 62 </a:t>
            </a:r>
            <a:r>
              <a:rPr lang="en-US" err="1"/>
              <a:t>boletas</a:t>
            </a:r>
            <a:r>
              <a:rPr lang="en-US"/>
              <a:t> </a:t>
            </a:r>
            <a:r>
              <a:rPr lang="en-US" err="1"/>
              <a:t>duplicadas</a:t>
            </a:r>
            <a:r>
              <a:rPr lang="en-US"/>
              <a:t>, 38 con </a:t>
            </a:r>
            <a:r>
              <a:rPr lang="en-US" err="1"/>
              <a:t>año</a:t>
            </a:r>
            <a:r>
              <a:rPr lang="en-US"/>
              <a:t> 2026, y 408 </a:t>
            </a:r>
            <a:r>
              <a:rPr lang="en-US" err="1"/>
              <a:t>boletas</a:t>
            </a:r>
            <a:r>
              <a:rPr lang="en-US"/>
              <a:t> sin </a:t>
            </a:r>
            <a:r>
              <a:rPr lang="en-US" err="1"/>
              <a:t>tarjeta</a:t>
            </a:r>
            <a:r>
              <a:rPr lang="en-US"/>
              <a:t> </a:t>
            </a:r>
            <a:r>
              <a:rPr lang="en-US" err="1"/>
              <a:t>donde</a:t>
            </a:r>
            <a:r>
              <a:rPr lang="en-US"/>
              <a:t> la </a:t>
            </a:r>
            <a:r>
              <a:rPr lang="en-US" err="1"/>
              <a:t>caja</a:t>
            </a:r>
            <a:r>
              <a:rPr lang="en-US"/>
              <a:t> </a:t>
            </a:r>
            <a:r>
              <a:rPr lang="en-US" err="1"/>
              <a:t>numera</a:t>
            </a:r>
            <a:r>
              <a:rPr lang="en-US"/>
              <a:t> dos </a:t>
            </a:r>
            <a:r>
              <a:rPr lang="en-US" err="1"/>
              <a:t>productos</a:t>
            </a:r>
            <a:r>
              <a:rPr lang="en-US"/>
              <a:t> </a:t>
            </a:r>
            <a:r>
              <a:rPr lang="en-US" err="1"/>
              <a:t>distintos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“</a:t>
            </a:r>
            <a:r>
              <a:rPr lang="en-US" err="1"/>
              <a:t>línea</a:t>
            </a:r>
            <a:r>
              <a:rPr lang="en-US"/>
              <a:t> 1”; </a:t>
            </a:r>
            <a:r>
              <a:rPr lang="en-US" err="1"/>
              <a:t>todo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bitácora</a:t>
            </a:r>
            <a:r>
              <a:rPr lang="en-US"/>
              <a:t> de </a:t>
            </a:r>
            <a:r>
              <a:rPr lang="en-US" err="1"/>
              <a:t>supuestos</a:t>
            </a:r>
            <a:r>
              <a:rPr lang="en-US"/>
              <a:t>.</a:t>
            </a:r>
            <a:br>
              <a:rPr lang="en-US"/>
            </a:br>
            <a:r>
              <a:rPr lang="en-US"/>
              <a:t>Pasar a la </a:t>
            </a:r>
            <a:r>
              <a:rPr lang="en-US" err="1"/>
              <a:t>siguiente</a:t>
            </a:r>
            <a:r>
              <a:rPr lang="en-US"/>
              <a:t>.</a:t>
            </a: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r>
              <a:rPr lang="es-ES" b="1"/>
              <a:t>Tiempo objetivo: 55 segundos</a:t>
            </a:r>
            <a:endParaRPr lang="es-ES"/>
          </a:p>
          <a:p>
            <a:r>
              <a:rPr lang="es-ES"/>
              <a:t>Para construir estos indicadores, integramos las cuatro fuentes de datos en un modelo dimensional, tomando tres decisiones importantes.</a:t>
            </a:r>
          </a:p>
          <a:p>
            <a:r>
              <a:rPr lang="es-ES" b="1"/>
              <a:t>Primero, el grano.</a:t>
            </a:r>
            <a:r>
              <a:rPr lang="es-ES"/>
              <a:t> Decidimos trabajar a nivel de línea de boleta, en lugar de boleta completa. Esto nos permite conservar el detalle de las transacciones y, al mismo tiempo, reconstruir las visitas agrupando por boleta.</a:t>
            </a:r>
          </a:p>
          <a:p>
            <a:r>
              <a:rPr lang="es-ES" b="1"/>
              <a:t>Segundo, la dimensión Cliente.</a:t>
            </a:r>
            <a:r>
              <a:rPr lang="es-ES"/>
              <a:t> Distinguimos clientes nuevos y antiguos según su fecha de inscripción, porque confirmamos que los segmentos comerciales Clásico, Plus y Black no diferencian significativamente su comportamiento.</a:t>
            </a:r>
          </a:p>
          <a:p>
            <a:r>
              <a:rPr lang="es-ES" b="1"/>
              <a:t>Y tercero, la dimensión Tienda.</a:t>
            </a:r>
            <a:r>
              <a:rPr lang="es-ES"/>
              <a:t> La incorporamos porque ustedes nos solicitaron analizar la retención por local.</a:t>
            </a:r>
          </a:p>
          <a:p>
            <a:r>
              <a:rPr lang="es-ES"/>
              <a:t>Como algunos clientes compran en varios locales, asignamos cada uno a su tienda principal según dónde realizó más visitas en junio, evitando contarlos más de una vez.</a:t>
            </a:r>
          </a:p>
          <a:p>
            <a:r>
              <a:rPr lang="es-ES"/>
              <a:t>Así, nuestro modelo permite medir la retención de manera consistente, tanto por tipo de cliente como por local.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  <p:sp>
        <p:nvSpPr>
          <p:cNvPr id="94" name="Google Shape;9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[1:15 · CERRAR CON LA ACCIÓN Y LA PLATA. TERMINAR ANTES DE 7:00]</a:t>
            </a:r>
            <a:br>
              <a:rPr lang="en-US" dirty="0"/>
            </a:br>
            <a:r>
              <a:rPr lang="en-US" dirty="0"/>
              <a:t>“¿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haría</a:t>
            </a:r>
            <a:r>
              <a:rPr lang="en-US" dirty="0"/>
              <a:t> con </a:t>
            </a:r>
            <a:r>
              <a:rPr lang="en-US" dirty="0" err="1"/>
              <a:t>esto</a:t>
            </a:r>
            <a:r>
              <a:rPr lang="en-US" dirty="0"/>
              <a:t>? Cuatro </a:t>
            </a:r>
            <a:r>
              <a:rPr lang="en-US" dirty="0" err="1"/>
              <a:t>cosas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orden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Primero,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dirty="0" err="1"/>
              <a:t>definición</a:t>
            </a:r>
            <a:r>
              <a:rPr lang="en-US" dirty="0"/>
              <a:t> de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activo</a:t>
            </a:r>
            <a:r>
              <a:rPr lang="en-US" dirty="0"/>
              <a:t>, con </a:t>
            </a:r>
            <a:r>
              <a:rPr lang="en-US" dirty="0" err="1"/>
              <a:t>dueño</a:t>
            </a:r>
            <a:r>
              <a:rPr lang="en-US" dirty="0"/>
              <a:t>. Hoy,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quién</a:t>
            </a:r>
            <a:r>
              <a:rPr lang="en-US" dirty="0"/>
              <a:t> la </a:t>
            </a:r>
            <a:r>
              <a:rPr lang="en-US" dirty="0" err="1"/>
              <a:t>calcule</a:t>
            </a:r>
            <a:r>
              <a:rPr lang="en-US" dirty="0"/>
              <a:t>, la </a:t>
            </a:r>
            <a:r>
              <a:rPr lang="en-US" dirty="0" err="1"/>
              <a:t>retención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leerse</a:t>
            </a:r>
            <a:r>
              <a:rPr lang="en-US" dirty="0"/>
              <a:t> entre 19% y 59%. Sin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definición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no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ninguna</a:t>
            </a:r>
            <a:r>
              <a:rPr lang="en-US" dirty="0"/>
              <a:t> </a:t>
            </a:r>
            <a:r>
              <a:rPr lang="en-US" dirty="0" err="1"/>
              <a:t>campaña</a:t>
            </a:r>
            <a:r>
              <a:rPr lang="en-US" dirty="0"/>
              <a:t> de </a:t>
            </a:r>
            <a:r>
              <a:rPr lang="en-US" dirty="0" err="1"/>
              <a:t>fidelización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Segundo, </a:t>
            </a:r>
            <a:r>
              <a:rPr lang="en-US" dirty="0" err="1"/>
              <a:t>volver</a:t>
            </a:r>
            <a:r>
              <a:rPr lang="en-US" dirty="0"/>
              <a:t> a </a:t>
            </a:r>
            <a:r>
              <a:rPr lang="en-US" dirty="0" err="1"/>
              <a:t>contactar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ventana</a:t>
            </a:r>
            <a:r>
              <a:rPr lang="en-US" dirty="0"/>
              <a:t> de </a:t>
            </a:r>
            <a:r>
              <a:rPr lang="en-US" dirty="0" err="1"/>
              <a:t>compra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Marketing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contó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dejó</a:t>
            </a:r>
            <a:r>
              <a:rPr lang="en-US" dirty="0"/>
              <a:t> de </a:t>
            </a:r>
            <a:r>
              <a:rPr lang="en-US" dirty="0" err="1"/>
              <a:t>hacer</a:t>
            </a:r>
            <a:r>
              <a:rPr lang="en-US" dirty="0"/>
              <a:t>. Si un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vuelve</a:t>
            </a:r>
            <a:r>
              <a:rPr lang="en-US" dirty="0"/>
              <a:t>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dos </a:t>
            </a:r>
            <a:r>
              <a:rPr lang="en-US" dirty="0" err="1"/>
              <a:t>semanas</a:t>
            </a:r>
            <a:r>
              <a:rPr lang="en-US" dirty="0"/>
              <a:t>, uno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lleva</a:t>
            </a:r>
            <a:r>
              <a:rPr lang="en-US" dirty="0"/>
              <a:t> 30 a 45 días sin </a:t>
            </a:r>
            <a:r>
              <a:rPr lang="en-US" dirty="0" err="1"/>
              <a:t>venir</a:t>
            </a:r>
            <a:r>
              <a:rPr lang="en-US" dirty="0"/>
              <a:t> es la </a:t>
            </a:r>
            <a:r>
              <a:rPr lang="en-US" dirty="0" err="1"/>
              <a:t>alerta</a:t>
            </a:r>
            <a:r>
              <a:rPr lang="en-US" dirty="0"/>
              <a:t> para </a:t>
            </a:r>
            <a:r>
              <a:rPr lang="en-US" dirty="0" err="1"/>
              <a:t>contactarlo</a:t>
            </a:r>
            <a:r>
              <a:rPr lang="en-US" dirty="0"/>
              <a:t>, antes de </a:t>
            </a:r>
            <a:r>
              <a:rPr lang="en-US" dirty="0" err="1"/>
              <a:t>perderlo</a:t>
            </a:r>
            <a:r>
              <a:rPr lang="en-US" dirty="0"/>
              <a:t>. </a:t>
            </a:r>
            <a:r>
              <a:rPr lang="en-US" dirty="0" err="1"/>
              <a:t>Partiendo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base </a:t>
            </a:r>
            <a:r>
              <a:rPr lang="en-US" dirty="0" err="1"/>
              <a:t>antigua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es la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se </a:t>
            </a:r>
            <a:r>
              <a:rPr lang="en-US" dirty="0" err="1"/>
              <a:t>va.</a:t>
            </a:r>
            <a:br>
              <a:rPr lang="en-US" dirty="0"/>
            </a:br>
            <a:r>
              <a:rPr lang="en-US" dirty="0"/>
              <a:t>Tercero, </a:t>
            </a:r>
            <a:r>
              <a:rPr lang="en-US" dirty="0" err="1"/>
              <a:t>asegurar</a:t>
            </a:r>
            <a:r>
              <a:rPr lang="en-US" dirty="0"/>
              <a:t> la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compra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primer </a:t>
            </a:r>
            <a:r>
              <a:rPr lang="en-US" dirty="0" err="1"/>
              <a:t>mes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 </a:t>
            </a:r>
            <a:r>
              <a:rPr lang="en-US" dirty="0" err="1"/>
              <a:t>cuarto</a:t>
            </a:r>
            <a:r>
              <a:rPr lang="en-US" dirty="0"/>
              <a:t>, </a:t>
            </a:r>
            <a:r>
              <a:rPr lang="en-US" dirty="0" err="1"/>
              <a:t>revisar</a:t>
            </a:r>
            <a:r>
              <a:rPr lang="en-US" dirty="0"/>
              <a:t> primero </a:t>
            </a:r>
            <a:r>
              <a:rPr lang="en-US" dirty="0" err="1"/>
              <a:t>los</a:t>
            </a:r>
            <a:r>
              <a:rPr lang="en-US" dirty="0"/>
              <a:t> locales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retienen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La Florida o Concepción, antes de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cambiar</a:t>
            </a:r>
            <a:r>
              <a:rPr lang="en-US" dirty="0"/>
              <a:t> el </a:t>
            </a:r>
            <a:r>
              <a:rPr lang="en-US" dirty="0" err="1"/>
              <a:t>formato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¿</a:t>
            </a:r>
            <a:r>
              <a:rPr lang="en-US" dirty="0" err="1"/>
              <a:t>Cuánto</a:t>
            </a:r>
            <a:r>
              <a:rPr lang="en-US" dirty="0"/>
              <a:t> vale? Los 285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perdieron</a:t>
            </a:r>
            <a:r>
              <a:rPr lang="en-US" dirty="0"/>
              <a:t> </a:t>
            </a:r>
            <a:r>
              <a:rPr lang="en-US" dirty="0" err="1"/>
              <a:t>gastaron</a:t>
            </a:r>
            <a:r>
              <a:rPr lang="en-US" dirty="0"/>
              <a:t> 19,7 </a:t>
            </a:r>
            <a:r>
              <a:rPr lang="en-US" dirty="0" err="1"/>
              <a:t>millones</a:t>
            </a:r>
            <a:r>
              <a:rPr lang="en-US" dirty="0"/>
              <a:t> de pesos </a:t>
            </a:r>
            <a:r>
              <a:rPr lang="en-US" dirty="0" err="1"/>
              <a:t>en</a:t>
            </a:r>
            <a:r>
              <a:rPr lang="en-US" dirty="0"/>
              <a:t> el primer </a:t>
            </a:r>
            <a:r>
              <a:rPr lang="en-US" dirty="0" err="1"/>
              <a:t>semestre</a:t>
            </a:r>
            <a:r>
              <a:rPr lang="en-US" dirty="0"/>
              <a:t>. Subir la </a:t>
            </a:r>
            <a:r>
              <a:rPr lang="en-US" dirty="0" err="1"/>
              <a:t>retención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10 puntos son </a:t>
            </a:r>
            <a:r>
              <a:rPr lang="en-US" dirty="0" err="1"/>
              <a:t>unos</a:t>
            </a:r>
            <a:r>
              <a:rPr lang="en-US" dirty="0"/>
              <a:t> 49 </a:t>
            </a:r>
            <a:r>
              <a:rPr lang="en-US" dirty="0" err="1"/>
              <a:t>clientes</a:t>
            </a:r>
            <a:r>
              <a:rPr lang="en-US" dirty="0"/>
              <a:t> y </a:t>
            </a:r>
            <a:r>
              <a:rPr lang="en-US" dirty="0" err="1"/>
              <a:t>cerca</a:t>
            </a:r>
            <a:r>
              <a:rPr lang="en-US" dirty="0"/>
              <a:t> de 6,8 </a:t>
            </a:r>
            <a:r>
              <a:rPr lang="en-US" dirty="0" err="1"/>
              <a:t>millones</a:t>
            </a:r>
            <a:r>
              <a:rPr lang="en-US" dirty="0"/>
              <a:t> de pesos de </a:t>
            </a:r>
            <a:r>
              <a:rPr lang="en-US" dirty="0" err="1"/>
              <a:t>venta</a:t>
            </a:r>
            <a:r>
              <a:rPr lang="en-US" dirty="0"/>
              <a:t> al </a:t>
            </a:r>
            <a:r>
              <a:rPr lang="en-US" dirty="0" err="1"/>
              <a:t>año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Muchas</a:t>
            </a:r>
            <a:r>
              <a:rPr lang="en-US" dirty="0"/>
              <a:t> gracias.”</a:t>
            </a:r>
            <a:br>
              <a:rPr lang="en-US" dirty="0"/>
            </a:br>
            <a:r>
              <a:rPr lang="en-US" dirty="0"/>
              <a:t>Si </a:t>
            </a:r>
            <a:r>
              <a:rPr lang="en-US" dirty="0" err="1"/>
              <a:t>preguntan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locales: “Son 33 a 46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local,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diferencias</a:t>
            </a:r>
            <a:r>
              <a:rPr lang="en-US" dirty="0"/>
              <a:t> de </a:t>
            </a:r>
            <a:r>
              <a:rPr lang="en-US" dirty="0" err="1"/>
              <a:t>menos</a:t>
            </a:r>
            <a:r>
              <a:rPr lang="en-US" dirty="0"/>
              <a:t> de 15 puntos no son </a:t>
            </a:r>
            <a:r>
              <a:rPr lang="en-US" dirty="0" err="1"/>
              <a:t>concluyentes</a:t>
            </a:r>
            <a:r>
              <a:rPr lang="en-US" dirty="0"/>
              <a:t>; con 180 días el </a:t>
            </a:r>
            <a:r>
              <a:rPr lang="en-US" dirty="0" err="1"/>
              <a:t>orden</a:t>
            </a:r>
            <a:r>
              <a:rPr lang="en-US" dirty="0"/>
              <a:t> cambia. Sirve para </a:t>
            </a:r>
            <a:r>
              <a:rPr lang="en-US" dirty="0" err="1"/>
              <a:t>priorizar</a:t>
            </a:r>
            <a:r>
              <a:rPr lang="en-US" dirty="0"/>
              <a:t> a </a:t>
            </a:r>
            <a:r>
              <a:rPr lang="en-US" dirty="0" err="1"/>
              <a:t>quién</a:t>
            </a:r>
            <a:r>
              <a:rPr lang="en-US" dirty="0"/>
              <a:t> </a:t>
            </a:r>
            <a:r>
              <a:rPr lang="en-US" dirty="0" err="1"/>
              <a:t>revisar</a:t>
            </a:r>
            <a:r>
              <a:rPr lang="en-US" dirty="0"/>
              <a:t>, no para </a:t>
            </a:r>
            <a:r>
              <a:rPr lang="en-US" dirty="0" err="1"/>
              <a:t>concluir</a:t>
            </a:r>
            <a:r>
              <a:rPr lang="en-US" dirty="0"/>
              <a:t>.”</a:t>
            </a:r>
            <a:br>
              <a:rPr lang="en-US" dirty="0"/>
            </a:br>
            <a:r>
              <a:rPr lang="en-US" dirty="0"/>
              <a:t>Si </a:t>
            </a:r>
            <a:r>
              <a:rPr lang="en-US" dirty="0" err="1"/>
              <a:t>preguntan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cifra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pesos: es </a:t>
            </a:r>
            <a:r>
              <a:rPr lang="en-US" dirty="0" err="1"/>
              <a:t>venta</a:t>
            </a:r>
            <a:r>
              <a:rPr lang="en-US" dirty="0"/>
              <a:t>, no </a:t>
            </a:r>
            <a:r>
              <a:rPr lang="en-US" dirty="0" err="1"/>
              <a:t>margen</a:t>
            </a:r>
            <a:r>
              <a:rPr lang="en-US" dirty="0"/>
              <a:t>; </a:t>
            </a:r>
            <a:r>
              <a:rPr lang="en-US" dirty="0" err="1"/>
              <a:t>supone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retenido</a:t>
            </a:r>
            <a:r>
              <a:rPr lang="en-US" dirty="0"/>
              <a:t> </a:t>
            </a:r>
            <a:r>
              <a:rPr lang="en-US" dirty="0" err="1"/>
              <a:t>mantiene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gasto</a:t>
            </a:r>
            <a:r>
              <a:rPr lang="en-US" dirty="0"/>
              <a:t> </a:t>
            </a:r>
            <a:r>
              <a:rPr lang="en-US" dirty="0" err="1"/>
              <a:t>mensual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.</a:t>
            </a: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r>
              <a:rPr lang="es-ES" b="1" dirty="0"/>
              <a:t>Tiempo objetivo: 1 minuto y 10 segundos</a:t>
            </a:r>
            <a:endParaRPr lang="es-ES" dirty="0"/>
          </a:p>
          <a:p>
            <a:r>
              <a:rPr lang="es-ES" dirty="0"/>
              <a:t>A partir de estos resultados, proponemos cuatro acciones.</a:t>
            </a:r>
          </a:p>
          <a:p>
            <a:r>
              <a:rPr lang="es-ES" b="1" dirty="0"/>
              <a:t>Primero</a:t>
            </a:r>
            <a:r>
              <a:rPr lang="es-ES" dirty="0"/>
              <a:t>, establecer una definición oficial de cliente activo de 90 días, bajo la responsabilidad de la Gerencia Comercial. Sin una definición común, es difícil evaluar correctamente la fidelización.</a:t>
            </a:r>
          </a:p>
          <a:p>
            <a:r>
              <a:rPr lang="es-ES" b="1" dirty="0"/>
              <a:t>Segundo</a:t>
            </a:r>
            <a:r>
              <a:rPr lang="es-ES" dirty="0"/>
              <a:t>, retomar el contacto con clientes que llevan entre 30 y 45 días sin comprar, comenzando por la base antigua. Marketing nos comentó que antes realizaban este contacto y que dejaron de hacerlo.</a:t>
            </a:r>
          </a:p>
          <a:p>
            <a:r>
              <a:rPr lang="es-ES" b="1" dirty="0"/>
              <a:t>Tercero</a:t>
            </a:r>
            <a:r>
              <a:rPr lang="es-ES" dirty="0"/>
              <a:t>, concentrar esfuerzos en conseguir la segunda compra de los clientes nuevos, especialmente durante su primer mes.</a:t>
            </a:r>
          </a:p>
          <a:p>
            <a:r>
              <a:rPr lang="es-ES" b="1" dirty="0"/>
              <a:t>Y cuarto</a:t>
            </a:r>
            <a:r>
              <a:rPr lang="es-ES" dirty="0"/>
              <a:t>, revisar los locales con menor retención, comenzando por La Florida y Concepción, para entender qué podría estar explicando sus resultados antes de tomar decisiones.</a:t>
            </a:r>
          </a:p>
          <a:p>
            <a:r>
              <a:rPr lang="es-ES" dirty="0"/>
              <a:t>¿Y cuánto vale mejorar?</a:t>
            </a:r>
          </a:p>
          <a:p>
            <a:r>
              <a:rPr lang="es-ES" dirty="0"/>
              <a:t>Los 285 clientes que dejaron de estar activos habían gastado aproximadamente 19,7 millones de pesos durante el primer semestre.</a:t>
            </a:r>
          </a:p>
          <a:p>
            <a:r>
              <a:rPr lang="es-ES" dirty="0"/>
              <a:t>Bajo el supuesto de que mantengan su gasto habitual, </a:t>
            </a:r>
            <a:r>
              <a:rPr lang="es-ES" b="1" dirty="0"/>
              <a:t>mejorar la retención en diez puntos porcentuales equivale a cerca de 49 clientes adicionales retenidos y 6,8 millones de pesos en ventas anuales</a:t>
            </a:r>
            <a:r>
              <a:rPr lang="es-ES" dirty="0"/>
              <a:t>.</a:t>
            </a:r>
          </a:p>
          <a:p>
            <a:r>
              <a:rPr lang="es-ES" dirty="0"/>
              <a:t>En definitiva, nuestra recomendación es no depender exclusivamente de seguir captando clientes, sino trabajar también en conservar los que la empresa ya consiguió.</a:t>
            </a:r>
          </a:p>
          <a:p>
            <a:r>
              <a:rPr lang="es-ES" dirty="0"/>
              <a:t>Muchas gracias.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SCURO">
  <p:cSld name="OSCURO">
    <p:bg>
      <p:bgPr>
        <a:solidFill>
          <a:srgbClr val="14213D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F29B6E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F29B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777240" y="914400"/>
            <a:ext cx="10637215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4000"/>
              <a:buFont typeface="Georgia"/>
              <a:buNone/>
              <a:defRPr sz="4000" b="1" i="0" u="none" strike="noStrike" cap="none">
                <a:solidFill>
                  <a:srgbClr val="F4F1EA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2"/>
          </p:nvPr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20"/>
              </a:spcBef>
              <a:spcAft>
                <a:spcPts val="0"/>
              </a:spcAft>
              <a:buClr>
                <a:srgbClr val="9AA8C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9AA8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RO">
  <p:cSld name="CLARO">
    <p:bg>
      <p:bgPr>
        <a:solidFill>
          <a:srgbClr val="F7F5F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  <a:defRPr sz="30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body" idx="1"/>
          </p:nvPr>
        </p:nvSpPr>
        <p:spPr>
          <a:xfrm>
            <a:off x="777240" y="6309360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20"/>
              </a:spcBef>
              <a:spcAft>
                <a:spcPts val="0"/>
              </a:spcAft>
              <a:buClr>
                <a:srgbClr val="6B686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RO_FRIO">
  <p:cSld name="CLARO_FRIO">
    <p:bg>
      <p:bgPr>
        <a:solidFill>
          <a:srgbClr val="EEF1F6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  <a:defRPr sz="30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body" idx="1"/>
          </p:nvPr>
        </p:nvSpPr>
        <p:spPr>
          <a:xfrm>
            <a:off x="777240" y="6309360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20"/>
              </a:spcBef>
              <a:spcAft>
                <a:spcPts val="0"/>
              </a:spcAft>
              <a:buClr>
                <a:srgbClr val="6B686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>
            <a:spLocks noGrp="1"/>
          </p:cNvSpPr>
          <p:nvPr>
            <p:ph type="body" idx="1"/>
          </p:nvPr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9B6E"/>
              </a:buClr>
              <a:buSzPts val="1300"/>
              <a:buNone/>
            </a:pPr>
            <a:r>
              <a:rPr lang="es-ES_tradnl" sz="1300" b="1" noProof="0">
                <a:solidFill>
                  <a:srgbClr val="F29B6E"/>
                </a:solidFill>
              </a:rPr>
              <a:t>MULTITIENDA DEL SUR · PREGUNTA 1 · GRUPO 3</a:t>
            </a:r>
            <a:endParaRPr lang="es-ES_tradnl" sz="1300" noProof="0"/>
          </a:p>
        </p:txBody>
      </p:sp>
      <p:sp>
        <p:nvSpPr>
          <p:cNvPr id="30" name="Google Shape;30;p1"/>
          <p:cNvSpPr txBox="1">
            <a:spLocks noGrp="1"/>
          </p:cNvSpPr>
          <p:nvPr>
            <p:ph type="title"/>
          </p:nvPr>
        </p:nvSpPr>
        <p:spPr>
          <a:xfrm>
            <a:off x="777240" y="914400"/>
            <a:ext cx="10637215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4000"/>
              <a:buFont typeface="Georgia"/>
              <a:buNone/>
            </a:pPr>
            <a:r>
              <a:rPr lang="es-ES_tradnl" sz="4000" b="1" noProof="0">
                <a:solidFill>
                  <a:srgbClr val="F4F1EA"/>
                </a:solidFill>
                <a:latin typeface="Georgia"/>
                <a:ea typeface="Georgia"/>
                <a:cs typeface="Georgia"/>
                <a:sym typeface="Georgia"/>
              </a:rPr>
              <a:t>La cadena está reponiendo clientes, no reteniéndolos.</a:t>
            </a:r>
            <a:endParaRPr lang="es-ES_tradnl" sz="4000" noProof="0"/>
          </a:p>
        </p:txBody>
      </p:sp>
      <p:cxnSp>
        <p:nvCxnSpPr>
          <p:cNvPr id="31" name="Google Shape;31;p1"/>
          <p:cNvCxnSpPr/>
          <p:nvPr/>
        </p:nvCxnSpPr>
        <p:spPr>
          <a:xfrm>
            <a:off x="777240" y="2423160"/>
            <a:ext cx="5135728" cy="0"/>
          </a:xfrm>
          <a:prstGeom prst="straightConnector1">
            <a:avLst/>
          </a:prstGeom>
          <a:noFill/>
          <a:ln w="38100" cap="flat" cmpd="sng">
            <a:solidFill>
              <a:srgbClr val="5B9B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"/>
          <p:cNvSpPr txBox="1"/>
          <p:nvPr/>
        </p:nvSpPr>
        <p:spPr>
          <a:xfrm>
            <a:off x="777240" y="2560320"/>
            <a:ext cx="51357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2F0"/>
              </a:buClr>
              <a:buSzPts val="6600"/>
              <a:buFont typeface="Georgia"/>
              <a:buNone/>
            </a:pPr>
            <a:r>
              <a:rPr lang="es-ES_tradnl" sz="6600" b="1" i="0" u="none" strike="noStrike" cap="none" noProof="0">
                <a:solidFill>
                  <a:srgbClr val="7FB2F0"/>
                </a:solidFill>
                <a:latin typeface="Georgia"/>
                <a:ea typeface="Georgia"/>
                <a:cs typeface="Georgia"/>
                <a:sym typeface="Georgia"/>
              </a:rPr>
              <a:t>41,5%</a:t>
            </a:r>
            <a:endParaRPr lang="es-ES_tradnl" sz="6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77240" y="3611880"/>
            <a:ext cx="495284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700"/>
              <a:buFont typeface="Arial"/>
              <a:buNone/>
            </a:pPr>
            <a:r>
              <a:rPr lang="es-ES_tradnl" sz="17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de los clientes activos en junio seguía activo en diciembre. Se fugó más de la mitad</a:t>
            </a:r>
            <a:endParaRPr lang="es-ES_tradnl" sz="17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6278728" y="2423160"/>
            <a:ext cx="5135728" cy="0"/>
          </a:xfrm>
          <a:prstGeom prst="straightConnector1">
            <a:avLst/>
          </a:prstGeom>
          <a:noFill/>
          <a:ln w="38100" cap="flat" cmpd="sng">
            <a:solidFill>
              <a:srgbClr val="F29B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"/>
          <p:cNvSpPr txBox="1"/>
          <p:nvPr/>
        </p:nvSpPr>
        <p:spPr>
          <a:xfrm>
            <a:off x="6278728" y="2560320"/>
            <a:ext cx="51357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9B6E"/>
              </a:buClr>
              <a:buSzPts val="6600"/>
              <a:buFont typeface="Georgia"/>
              <a:buNone/>
            </a:pPr>
            <a:r>
              <a:rPr lang="es-ES_tradnl" sz="6600" b="1" i="0" u="none" strike="noStrike" cap="none" noProof="0">
                <a:solidFill>
                  <a:srgbClr val="F29B6E"/>
                </a:solidFill>
                <a:latin typeface="Georgia"/>
                <a:ea typeface="Georgia"/>
                <a:cs typeface="Georgia"/>
                <a:sym typeface="Georgia"/>
              </a:rPr>
              <a:t>69%</a:t>
            </a:r>
            <a:endParaRPr lang="es-ES_tradnl" sz="6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6278728" y="3611880"/>
            <a:ext cx="495284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700"/>
              <a:buFont typeface="Arial"/>
              <a:buNone/>
            </a:pPr>
            <a:r>
              <a:rPr lang="es-ES_tradnl" sz="17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de los activos en diciembre </a:t>
            </a:r>
            <a:r>
              <a:rPr lang="es-ES_tradnl" sz="1800" b="1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son reemplazos</a:t>
            </a:r>
            <a:r>
              <a:rPr lang="es-ES_tradnl" sz="17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: no compraban en junio</a:t>
            </a:r>
            <a:endParaRPr lang="es-ES_tradnl" sz="17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77240" y="4572000"/>
            <a:ext cx="10637215" cy="1051560"/>
          </a:xfrm>
          <a:prstGeom prst="roundRect">
            <a:avLst>
              <a:gd name="adj" fmla="val 6957"/>
            </a:avLst>
          </a:prstGeom>
          <a:solidFill>
            <a:srgbClr val="1E2F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38" name="Google Shape;38;p1"/>
          <p:cNvSpPr txBox="1"/>
          <p:nvPr/>
        </p:nvSpPr>
        <p:spPr>
          <a:xfrm>
            <a:off x="1051560" y="4572000"/>
            <a:ext cx="10088575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900"/>
              <a:buFont typeface="Arial"/>
              <a:buNone/>
            </a:pPr>
            <a:r>
              <a:rPr lang="es-ES_tradnl" sz="1900" b="1" i="0" u="none" strike="noStrike" cap="none" noProof="0">
                <a:solidFill>
                  <a:srgbClr val="F4F1EA"/>
                </a:solidFill>
                <a:latin typeface="Arial"/>
                <a:ea typeface="Arial"/>
                <a:cs typeface="Arial"/>
                <a:sym typeface="Arial"/>
              </a:rPr>
              <a:t>Recomendamos </a:t>
            </a:r>
            <a:r>
              <a:rPr lang="es-ES_tradnl" sz="1900" b="0" i="0" u="none" strike="noStrike" cap="none" noProof="0">
                <a:solidFill>
                  <a:srgbClr val="F4F1EA"/>
                </a:solidFill>
                <a:latin typeface="Arial"/>
                <a:ea typeface="Arial"/>
                <a:cs typeface="Arial"/>
                <a:sym typeface="Arial"/>
              </a:rPr>
              <a:t>fijar una definición oficial de cliente activo y retener antes de captar: </a:t>
            </a:r>
            <a:r>
              <a:rPr lang="es-ES_tradnl" sz="1900" b="1" i="0" u="none" strike="noStrike" cap="none" noProof="0">
                <a:solidFill>
                  <a:srgbClr val="F29B6E"/>
                </a:solidFill>
                <a:latin typeface="Arial"/>
                <a:ea typeface="Arial"/>
                <a:cs typeface="Arial"/>
                <a:sym typeface="Arial"/>
              </a:rPr>
              <a:t>cada 10 puntos de retención valen ≈ $6,8 millones de venta al año.</a:t>
            </a:r>
            <a:endParaRPr lang="es-ES_tradnl" sz="19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>
            <a:spLocks noGrp="1"/>
          </p:cNvSpPr>
          <p:nvPr>
            <p:ph type="body" idx="2"/>
          </p:nvPr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AA8C0"/>
              </a:buClr>
              <a:buSzPts val="1100"/>
              <a:buNone/>
            </a:pPr>
            <a:r>
              <a:rPr lang="es-ES_tradnl" sz="1100" noProof="0">
                <a:solidFill>
                  <a:srgbClr val="9AA8C0"/>
                </a:solidFill>
              </a:rPr>
              <a:t>Cliente activo = compró en los últimos 90 días · Con 180 días: 58,6% y 59%, la conclusión se mantiene · Fuente: POS 2025, clientes identificados</a:t>
            </a:r>
            <a:endParaRPr lang="es-ES_tradnl" sz="11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</a:pPr>
            <a:r>
              <a:rPr lang="es-ES_tradnl" sz="30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De junio a diciembre, 7 de cada 10 clientes activos pasaron a ser reemplazos</a:t>
            </a:r>
            <a:endParaRPr lang="es-ES_tradnl" sz="3000" noProof="0"/>
          </a:p>
        </p:txBody>
      </p:sp>
      <p:sp>
        <p:nvSpPr>
          <p:cNvPr id="47" name="Google Shape;47;p2"/>
          <p:cNvSpPr/>
          <p:nvPr/>
        </p:nvSpPr>
        <p:spPr>
          <a:xfrm>
            <a:off x="7863840" y="1783080"/>
            <a:ext cx="64008" cy="114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48" name="Google Shape;48;p2"/>
          <p:cNvSpPr txBox="1"/>
          <p:nvPr/>
        </p:nvSpPr>
        <p:spPr>
          <a:xfrm>
            <a:off x="8138160" y="17830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Georgia"/>
              <a:buNone/>
            </a:pPr>
            <a:r>
              <a:rPr lang="es-ES_tradnl" sz="3200" b="1" i="0" u="none" strike="noStrike" cap="none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202</a:t>
            </a:r>
            <a:endParaRPr lang="es-ES_tradnl" sz="32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138160" y="23317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retenidos: estaban en junio y siguen en diciembre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863840" y="3200400"/>
            <a:ext cx="64008" cy="1143000"/>
          </a:xfrm>
          <a:prstGeom prst="rect">
            <a:avLst/>
          </a:prstGeom>
          <a:solidFill>
            <a:srgbClr val="9A97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51" name="Google Shape;51;p2"/>
          <p:cNvSpPr txBox="1"/>
          <p:nvPr/>
        </p:nvSpPr>
        <p:spPr>
          <a:xfrm>
            <a:off x="8138160" y="32004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Georgia"/>
              <a:buNone/>
            </a:pPr>
            <a:r>
              <a:rPr lang="es-ES_tradnl" sz="3200" b="1" i="0" u="none" strike="noStrike" cap="none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285</a:t>
            </a:r>
            <a:endParaRPr lang="es-ES_tradnl" sz="32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8138160" y="37490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perdidos: el 59% de la base de junio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863840" y="4617720"/>
            <a:ext cx="64008" cy="1143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54" name="Google Shape;54;p2"/>
          <p:cNvSpPr txBox="1"/>
          <p:nvPr/>
        </p:nvSpPr>
        <p:spPr>
          <a:xfrm>
            <a:off x="81381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Georgia"/>
              <a:buNone/>
            </a:pPr>
            <a:r>
              <a:rPr lang="es-ES_tradnl" sz="3200" b="1" i="0" u="none" strike="noStrike" cap="none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459</a:t>
            </a:r>
            <a:endParaRPr lang="es-ES_tradnl" sz="32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8138160" y="51663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ganados: 415 nuevos y 44 que volvieron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>
            <a:spLocks noGrp="1"/>
          </p:cNvSpPr>
          <p:nvPr>
            <p:ph type="body" idx="1"/>
          </p:nvPr>
        </p:nvSpPr>
        <p:spPr>
          <a:xfrm>
            <a:off x="777240" y="6309360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6860"/>
              </a:buClr>
              <a:buSzPts val="1100"/>
              <a:buNone/>
            </a:pPr>
            <a:r>
              <a:rPr lang="es-ES_tradnl" sz="1100" noProof="0">
                <a:solidFill>
                  <a:srgbClr val="6B6860"/>
                </a:solidFill>
              </a:rPr>
              <a:t>Activo = al menos una compra con monto positivo en los 90 días previos al corte · Fuente: POS Multitienda del Sur, 2025, clientes identificados · Elaboración Grupo 3</a:t>
            </a:r>
            <a:endParaRPr lang="es-ES_tradnl" sz="1100" noProof="0"/>
          </a:p>
        </p:txBody>
      </p:sp>
      <p:sp>
        <p:nvSpPr>
          <p:cNvPr id="57" name="Google Shape;57;p2"/>
          <p:cNvSpPr txBox="1">
            <a:spLocks noGrp="1"/>
          </p:cNvSpPr>
          <p:nvPr>
            <p:ph type="sldNum" idx="4294967295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z="1100" b="0" i="0" u="none" strike="noStrike" cap="none" noProof="0" smtClean="0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es-ES_tradnl" sz="1100" b="0" i="0" u="none" strike="noStrike" cap="none" noProof="0">
              <a:solidFill>
                <a:srgbClr val="6B68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ráfico / título"/>
          <p:cNvSpPr txBox="1"/>
          <p:nvPr/>
        </p:nvSpPr>
        <p:spPr>
          <a:xfrm>
            <a:off x="955547" y="1919982"/>
            <a:ext cx="6117336" cy="2108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70" b="1">
                <a:solidFill>
                  <a:srgbClr val="172A4D"/>
                </a:solidFill>
                <a:latin typeface="Arial"/>
              </a:defRPr>
            </a:pPr>
            <a:r>
              <a:rPr lang="es-ES_tradnl" noProof="0"/>
              <a:t>Clientes activos (n.º de clientes), ventana de 90 días</a:t>
            </a:r>
          </a:p>
        </p:txBody>
      </p:sp>
      <p:cxnSp>
        <p:nvCxnSpPr>
          <p:cNvPr id="59" name="Gráfico / eje horizontal"/>
          <p:cNvCxnSpPr>
            <a:cxnSpLocks/>
          </p:cNvCxnSpPr>
          <p:nvPr/>
        </p:nvCxnSpPr>
        <p:spPr>
          <a:xfrm>
            <a:off x="950976" y="4873752"/>
            <a:ext cx="6473951" cy="0"/>
          </a:xfrm>
          <a:prstGeom prst="line">
            <a:avLst/>
          </a:prstGeom>
          <a:ln w="8255">
            <a:solidFill>
              <a:srgbClr val="B9B9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Gráfico / fuente"/>
          <p:cNvSpPr txBox="1"/>
          <p:nvPr/>
        </p:nvSpPr>
        <p:spPr>
          <a:xfrm>
            <a:off x="955547" y="5559228"/>
            <a:ext cx="6428232" cy="112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730" b="0">
                <a:solidFill>
                  <a:srgbClr val="666666"/>
                </a:solidFill>
                <a:latin typeface="Arial"/>
              </a:defRPr>
            </a:pPr>
            <a:r>
              <a:rPr lang="es-ES_tradnl" noProof="0"/>
              <a:t>Fuente: POS Multitienda del Sur, 2025, clientes identificados. Elaboración Grupo 3.</a:t>
            </a:r>
          </a:p>
        </p:txBody>
      </p:sp>
      <p:sp>
        <p:nvSpPr>
          <p:cNvPr id="61" name="Gráfico / etiqueta 1"/>
          <p:cNvSpPr txBox="1"/>
          <p:nvPr/>
        </p:nvSpPr>
        <p:spPr>
          <a:xfrm>
            <a:off x="1193292" y="4928503"/>
            <a:ext cx="10424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30" b="0">
                <a:solidFill>
                  <a:srgbClr val="666666"/>
                </a:solidFill>
                <a:latin typeface="Arial"/>
              </a:defRPr>
            </a:pPr>
            <a:r>
              <a:rPr lang="es-ES_tradnl" sz="1100" noProof="0"/>
              <a:t>Activos</a:t>
            </a:r>
            <a:br>
              <a:rPr lang="es-ES_tradnl" sz="1100" noProof="0"/>
            </a:br>
            <a:r>
              <a:rPr lang="es-ES_tradnl" sz="1100" noProof="0"/>
              <a:t>30 de junio</a:t>
            </a:r>
          </a:p>
        </p:txBody>
      </p:sp>
      <p:sp>
        <p:nvSpPr>
          <p:cNvPr id="62" name="Gráfico / etiqueta 2"/>
          <p:cNvSpPr txBox="1"/>
          <p:nvPr/>
        </p:nvSpPr>
        <p:spPr>
          <a:xfrm>
            <a:off x="2464308" y="4928503"/>
            <a:ext cx="10424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30" b="0">
                <a:solidFill>
                  <a:srgbClr val="666666"/>
                </a:solidFill>
                <a:latin typeface="Arial"/>
              </a:defRPr>
            </a:pPr>
            <a:r>
              <a:rPr lang="es-ES_tradnl" sz="1100" noProof="0"/>
              <a:t>Dejaron</a:t>
            </a:r>
            <a:br>
              <a:rPr lang="es-ES_tradnl" sz="1100" noProof="0"/>
            </a:br>
            <a:r>
              <a:rPr lang="es-ES_tradnl" sz="1100" noProof="0"/>
              <a:t>de comprar</a:t>
            </a:r>
          </a:p>
        </p:txBody>
      </p:sp>
      <p:sp>
        <p:nvSpPr>
          <p:cNvPr id="63" name="Gráfico / etiqueta 3"/>
          <p:cNvSpPr txBox="1"/>
          <p:nvPr/>
        </p:nvSpPr>
        <p:spPr>
          <a:xfrm>
            <a:off x="3717036" y="4928503"/>
            <a:ext cx="10424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30" b="0">
                <a:solidFill>
                  <a:srgbClr val="666666"/>
                </a:solidFill>
                <a:latin typeface="Arial"/>
              </a:defRPr>
            </a:pPr>
            <a:r>
              <a:rPr lang="es-ES_tradnl" sz="1100" noProof="0"/>
              <a:t>Clientes</a:t>
            </a:r>
            <a:br>
              <a:rPr lang="es-ES_tradnl" sz="1100" noProof="0"/>
            </a:br>
            <a:r>
              <a:rPr lang="es-ES_tradnl" sz="1100" noProof="0"/>
              <a:t>nuevos</a:t>
            </a:r>
          </a:p>
        </p:txBody>
      </p:sp>
      <p:sp>
        <p:nvSpPr>
          <p:cNvPr id="64" name="Gráfico / etiqueta 4"/>
          <p:cNvSpPr txBox="1"/>
          <p:nvPr/>
        </p:nvSpPr>
        <p:spPr>
          <a:xfrm>
            <a:off x="4942332" y="4928503"/>
            <a:ext cx="10424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30" b="0">
                <a:solidFill>
                  <a:srgbClr val="666666"/>
                </a:solidFill>
                <a:latin typeface="Arial"/>
              </a:defRPr>
            </a:pPr>
            <a:r>
              <a:rPr lang="es-ES_tradnl" sz="1100" noProof="0"/>
              <a:t>Clientes que</a:t>
            </a:r>
            <a:br>
              <a:rPr lang="es-ES_tradnl" sz="1100" noProof="0"/>
            </a:br>
            <a:r>
              <a:rPr lang="es-ES_tradnl" sz="1100" noProof="0"/>
              <a:t>volvieron</a:t>
            </a:r>
          </a:p>
        </p:txBody>
      </p:sp>
      <p:sp>
        <p:nvSpPr>
          <p:cNvPr id="65" name="Gráfico / etiqueta 5"/>
          <p:cNvSpPr txBox="1"/>
          <p:nvPr/>
        </p:nvSpPr>
        <p:spPr>
          <a:xfrm>
            <a:off x="6185916" y="4928503"/>
            <a:ext cx="10424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30" b="0">
                <a:solidFill>
                  <a:srgbClr val="666666"/>
                </a:solidFill>
                <a:latin typeface="Arial"/>
              </a:defRPr>
            </a:pPr>
            <a:r>
              <a:rPr lang="es-ES_tradnl" sz="1100" noProof="0"/>
              <a:t>Activos</a:t>
            </a:r>
            <a:br>
              <a:rPr lang="es-ES_tradnl" sz="1100" noProof="0"/>
            </a:br>
            <a:r>
              <a:rPr lang="es-ES_tradnl" sz="1100" noProof="0"/>
              <a:t>31 de diciembre</a:t>
            </a:r>
          </a:p>
        </p:txBody>
      </p:sp>
      <p:sp>
        <p:nvSpPr>
          <p:cNvPr id="66" name="Cascada / 487 activos"/>
          <p:cNvSpPr/>
          <p:nvPr/>
        </p:nvSpPr>
        <p:spPr>
          <a:xfrm>
            <a:off x="1307592" y="3044952"/>
            <a:ext cx="813816" cy="1819656"/>
          </a:xfrm>
          <a:prstGeom prst="rect">
            <a:avLst/>
          </a:prstGeom>
          <a:solidFill>
            <a:srgbClr val="17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67" name="Cascada / cifra 487"/>
          <p:cNvSpPr txBox="1"/>
          <p:nvPr/>
        </p:nvSpPr>
        <p:spPr>
          <a:xfrm>
            <a:off x="1289304" y="2796948"/>
            <a:ext cx="8503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72A4D"/>
                </a:solidFill>
                <a:latin typeface="Arial"/>
              </a:defRPr>
            </a:pPr>
            <a:r>
              <a:rPr lang="es-ES_tradnl" noProof="0"/>
              <a:t>487</a:t>
            </a:r>
          </a:p>
        </p:txBody>
      </p:sp>
      <p:cxnSp>
        <p:nvCxnSpPr>
          <p:cNvPr id="68" name="Clic 1 / conector junio pérdida"/>
          <p:cNvCxnSpPr>
            <a:cxnSpLocks/>
          </p:cNvCxnSpPr>
          <p:nvPr/>
        </p:nvCxnSpPr>
        <p:spPr>
          <a:xfrm>
            <a:off x="2121408" y="3044952"/>
            <a:ext cx="457200" cy="0"/>
          </a:xfrm>
          <a:prstGeom prst="line">
            <a:avLst/>
          </a:prstGeom>
          <a:ln w="9525">
            <a:solidFill>
              <a:srgbClr val="9897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lic 1 / barra menos 285"/>
          <p:cNvSpPr/>
          <p:nvPr/>
        </p:nvSpPr>
        <p:spPr>
          <a:xfrm>
            <a:off x="2578608" y="3044952"/>
            <a:ext cx="813816" cy="1060704"/>
          </a:xfrm>
          <a:prstGeom prst="rect">
            <a:avLst/>
          </a:prstGeom>
          <a:solidFill>
            <a:srgbClr val="D5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70" name="Clic 1 / cifra menos 285"/>
          <p:cNvSpPr txBox="1"/>
          <p:nvPr/>
        </p:nvSpPr>
        <p:spPr>
          <a:xfrm>
            <a:off x="2551176" y="2778660"/>
            <a:ext cx="8686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595959"/>
                </a:solidFill>
                <a:latin typeface="Arial"/>
              </a:defRPr>
            </a:pPr>
            <a:r>
              <a:rPr lang="es-ES_tradnl" noProof="0"/>
              <a:t>−285</a:t>
            </a:r>
          </a:p>
        </p:txBody>
      </p:sp>
      <p:cxnSp>
        <p:nvCxnSpPr>
          <p:cNvPr id="71" name="Clic 2 / conector 202 a nuevos"/>
          <p:cNvCxnSpPr>
            <a:cxnSpLocks/>
          </p:cNvCxnSpPr>
          <p:nvPr/>
        </p:nvCxnSpPr>
        <p:spPr>
          <a:xfrm>
            <a:off x="3392424" y="4105656"/>
            <a:ext cx="438912" cy="0"/>
          </a:xfrm>
          <a:prstGeom prst="line">
            <a:avLst/>
          </a:prstGeom>
          <a:ln w="9525">
            <a:solidFill>
              <a:srgbClr val="9897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lic 2 / barra nuevos 415"/>
          <p:cNvSpPr/>
          <p:nvPr/>
        </p:nvSpPr>
        <p:spPr>
          <a:xfrm>
            <a:off x="3831336" y="2560320"/>
            <a:ext cx="813816" cy="1545336"/>
          </a:xfrm>
          <a:prstGeom prst="rect">
            <a:avLst/>
          </a:prstGeom>
          <a:solidFill>
            <a:srgbClr val="F6B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73" name="Clic 2 / cifra más 415"/>
          <p:cNvSpPr txBox="1"/>
          <p:nvPr/>
        </p:nvSpPr>
        <p:spPr>
          <a:xfrm>
            <a:off x="3803904" y="2307744"/>
            <a:ext cx="8686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595959"/>
                </a:solidFill>
                <a:latin typeface="Arial"/>
              </a:defRPr>
            </a:pPr>
            <a:r>
              <a:rPr lang="es-ES_tradnl" noProof="0"/>
              <a:t>+415</a:t>
            </a:r>
          </a:p>
        </p:txBody>
      </p:sp>
      <p:cxnSp>
        <p:nvCxnSpPr>
          <p:cNvPr id="74" name="Clic 3 / conector a reactivados"/>
          <p:cNvCxnSpPr>
            <a:cxnSpLocks/>
          </p:cNvCxnSpPr>
          <p:nvPr/>
        </p:nvCxnSpPr>
        <p:spPr>
          <a:xfrm>
            <a:off x="4645152" y="2560320"/>
            <a:ext cx="411480" cy="0"/>
          </a:xfrm>
          <a:prstGeom prst="line">
            <a:avLst/>
          </a:prstGeom>
          <a:ln w="9525">
            <a:solidFill>
              <a:srgbClr val="9897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lic 3 / barra reactivados 44"/>
          <p:cNvSpPr/>
          <p:nvPr/>
        </p:nvSpPr>
        <p:spPr>
          <a:xfrm>
            <a:off x="5056632" y="2395728"/>
            <a:ext cx="813816" cy="164591"/>
          </a:xfrm>
          <a:prstGeom prst="rect">
            <a:avLst/>
          </a:prstGeom>
          <a:solidFill>
            <a:srgbClr val="F6B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76" name="Clic 3 / cifra más 44"/>
          <p:cNvSpPr txBox="1"/>
          <p:nvPr/>
        </p:nvSpPr>
        <p:spPr>
          <a:xfrm>
            <a:off x="5029200" y="2138580"/>
            <a:ext cx="8686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595959"/>
                </a:solidFill>
                <a:latin typeface="Arial"/>
              </a:defRPr>
            </a:pPr>
            <a:r>
              <a:rPr lang="es-ES_tradnl" noProof="0"/>
              <a:t>+44</a:t>
            </a:r>
          </a:p>
        </p:txBody>
      </p:sp>
      <p:cxnSp>
        <p:nvCxnSpPr>
          <p:cNvPr id="77" name="Clic 4 / línea nivel 202"/>
          <p:cNvCxnSpPr>
            <a:cxnSpLocks/>
          </p:cNvCxnSpPr>
          <p:nvPr/>
        </p:nvCxnSpPr>
        <p:spPr>
          <a:xfrm>
            <a:off x="4645152" y="4105656"/>
            <a:ext cx="1655064" cy="0"/>
          </a:xfrm>
          <a:prstGeom prst="line">
            <a:avLst/>
          </a:prstGeom>
          <a:ln w="9525">
            <a:solidFill>
              <a:srgbClr val="9897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lic 4 / barra final retenidos 202"/>
          <p:cNvSpPr/>
          <p:nvPr/>
        </p:nvSpPr>
        <p:spPr>
          <a:xfrm>
            <a:off x="6300216" y="4105656"/>
            <a:ext cx="813816" cy="758952"/>
          </a:xfrm>
          <a:prstGeom prst="rect">
            <a:avLst/>
          </a:prstGeom>
          <a:solidFill>
            <a:srgbClr val="17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79" name="Clic 4 / texto retenidos"/>
          <p:cNvSpPr txBox="1"/>
          <p:nvPr/>
        </p:nvSpPr>
        <p:spPr>
          <a:xfrm>
            <a:off x="6355079" y="4342562"/>
            <a:ext cx="704088" cy="330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lang="es-ES_tradnl" sz="1100" noProof="0"/>
              <a:t>202</a:t>
            </a:r>
            <a:br>
              <a:rPr lang="es-ES_tradnl" noProof="0"/>
            </a:br>
            <a:r>
              <a:rPr lang="es-ES_tradnl" noProof="0"/>
              <a:t>retenidos</a:t>
            </a:r>
          </a:p>
        </p:txBody>
      </p:sp>
      <p:cxnSp>
        <p:nvCxnSpPr>
          <p:cNvPr id="80" name="Clic 5 / conector total final"/>
          <p:cNvCxnSpPr>
            <a:cxnSpLocks/>
          </p:cNvCxnSpPr>
          <p:nvPr/>
        </p:nvCxnSpPr>
        <p:spPr>
          <a:xfrm>
            <a:off x="5870448" y="2395728"/>
            <a:ext cx="429768" cy="0"/>
          </a:xfrm>
          <a:prstGeom prst="line">
            <a:avLst/>
          </a:prstGeom>
          <a:ln w="9525">
            <a:solidFill>
              <a:srgbClr val="9897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lic 5 / barra final reemplazos 459"/>
          <p:cNvSpPr/>
          <p:nvPr/>
        </p:nvSpPr>
        <p:spPr>
          <a:xfrm>
            <a:off x="6300216" y="2395728"/>
            <a:ext cx="813816" cy="1709928"/>
          </a:xfrm>
          <a:prstGeom prst="rect">
            <a:avLst/>
          </a:prstGeom>
          <a:solidFill>
            <a:srgbClr val="F16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82" name="Clic 5 / texto reemplazos"/>
          <p:cNvSpPr txBox="1"/>
          <p:nvPr/>
        </p:nvSpPr>
        <p:spPr>
          <a:xfrm>
            <a:off x="6323076" y="3371574"/>
            <a:ext cx="768096" cy="50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lang="es-ES_tradnl" sz="1100" noProof="0"/>
              <a:t>459</a:t>
            </a:r>
            <a:br>
              <a:rPr lang="es-ES_tradnl" noProof="0"/>
            </a:br>
            <a:r>
              <a:rPr lang="es-ES_tradnl" noProof="0"/>
              <a:t>reemplazos</a:t>
            </a:r>
            <a:br>
              <a:rPr lang="es-ES_tradnl" noProof="0"/>
            </a:br>
            <a:r>
              <a:rPr lang="es-ES_tradnl" sz="1100" noProof="0"/>
              <a:t>(69%)</a:t>
            </a:r>
            <a:endParaRPr lang="es-ES_tradnl" noProof="0"/>
          </a:p>
        </p:txBody>
      </p:sp>
      <p:sp>
        <p:nvSpPr>
          <p:cNvPr id="83" name="Clic 5 / cifra total 661"/>
          <p:cNvSpPr txBox="1"/>
          <p:nvPr/>
        </p:nvSpPr>
        <p:spPr>
          <a:xfrm>
            <a:off x="6272783" y="2120292"/>
            <a:ext cx="8686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72A4D"/>
                </a:solidFill>
                <a:latin typeface="Arial"/>
              </a:defRPr>
            </a:pPr>
            <a:r>
              <a:rPr lang="es-ES_tradnl" noProof="0"/>
              <a:t>661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9" presetClass="entr" presetSubtype="0" dur="18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18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2" presetClass="entr" presetSubtype="1" dur="55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55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9" presetClass="entr" presetSubtype="0" dur="14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14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presetID="9" presetClass="entr" presetSubtype="0" dur="15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15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2" presetClass="entr" presetSubtype="4" dur="62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" dur="62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9" presetClass="entr" presetSubtype="0" dur="15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5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9" presetClass="entr" presetSubtype="0" dur="15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150"/>
                                  <p:tgtEl>
                                    <p:spTgt spid="7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presetID="22" presetClass="entr" presetSubtype="4" dur="57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" dur="57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9" presetClass="entr" presetSubtype="0" dur="140" fill="hold" nodeType="withEffect">
                            <p:stCondLst>
                              <p:cond delay="53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14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presetID="9" presetClass="entr" presetSubtype="0" dur="20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20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9" presetClass="entr" presetSubtype="0" dur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1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42" presetClass="path" presetSubtype="0" dur="680" fill="hold" nodeType="withEffect">
                            <p:stCondLst>
                              <p:cond delay="0"/>
                            </p:stCondLst>
                            <p:childTnLst>
                              <p:animMotion origin="layout" path="M -0.4095 4.81481E-6 L -2.08333E-7 4.81481E-6 " pathEditMode="relative" rAng="0" ptsTypes="AA">
                                <p:cBhvr>
                                  <p:cTn id="41" dur="680" fill="hold"/>
                                  <p:tgtEl>
                                    <p:spTgt spid="78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  <p:rCtr x="20469" y="0"/>
                              </p:animMotion>
                            </p:childTnLst>
                          </p:cTn>
                        </p:par>
                        <p:par>
                          <p:cTn id="42" presetID="9" presetClass="entr" presetSubtype="0" dur="180" fill="hold" nodeType="with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18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presetID="9" presetClass="entr" presetSubtype="0" dur="16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16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4" dur="65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5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9" presetClass="entr" presetSubtype="0" dur="180" fill="hold" nodeType="with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18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9" presetClass="entr" presetSubtype="0" dur="180" fill="hold" nodeType="withEffect">
                            <p:stCondLst>
                              <p:cond delay="61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18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24B1032-7E2F-3169-B362-7E3B0C78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F1C2960-114B-2F13-0D05-10055320A2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81" b="10411"/>
          <a:stretch>
            <a:fillRect/>
          </a:stretch>
        </p:blipFill>
        <p:spPr>
          <a:xfrm>
            <a:off x="271671" y="1935712"/>
            <a:ext cx="5855185" cy="35661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A81E184-DF6A-8DFE-ADDD-E1891289EF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286"/>
          <a:stretch>
            <a:fillRect/>
          </a:stretch>
        </p:blipFill>
        <p:spPr>
          <a:xfrm>
            <a:off x="6244377" y="1935712"/>
            <a:ext cx="5547361" cy="35661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27A53AA7-22AD-8753-5071-07726C279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7240" y="323722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</a:pPr>
            <a:r>
              <a:rPr lang="es-ES_tradnl" sz="24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Los clientes antiguos se van y los nuevos</a:t>
            </a:r>
            <a:r>
              <a:rPr lang="es-ES_tradnl" sz="2400" noProof="0"/>
              <a:t> </a:t>
            </a:r>
            <a:r>
              <a:rPr lang="es-ES_tradnl" sz="24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vuelven cada vez menos</a:t>
            </a:r>
            <a:endParaRPr lang="es-ES_tradnl" sz="2400" noProof="0"/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A83FB50D-9E6F-8E05-236B-87896DDD1D27}"/>
              </a:ext>
            </a:extLst>
          </p:cNvPr>
          <p:cNvSpPr txBox="1"/>
          <p:nvPr/>
        </p:nvSpPr>
        <p:spPr>
          <a:xfrm>
            <a:off x="619970" y="5570278"/>
            <a:ext cx="51585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24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Clientes antiguos pierden presencia durante 2025.</a:t>
            </a:r>
            <a:endParaRPr lang="es-ES_tradnl" sz="1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>
            <a:extLst>
              <a:ext uri="{FF2B5EF4-FFF2-40B4-BE49-F238E27FC236}">
                <a16:creationId xmlns:a16="http://schemas.microsoft.com/office/drawing/2014/main" id="{2FAE01B8-7CB7-F287-AAFB-A710977760E9}"/>
              </a:ext>
            </a:extLst>
          </p:cNvPr>
          <p:cNvSpPr txBox="1"/>
          <p:nvPr/>
        </p:nvSpPr>
        <p:spPr>
          <a:xfrm>
            <a:off x="6324998" y="5564282"/>
            <a:ext cx="54667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24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La recompra de clientes nuevos se debilitó</a:t>
            </a:r>
            <a:r>
              <a:rPr lang="es-ES_tradnl" sz="20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87FBC108-11D3-5852-13FD-E7EF621A9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392" y="6541092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6860"/>
              </a:buClr>
              <a:buSzPts val="1100"/>
              <a:buNone/>
            </a:pPr>
            <a:r>
              <a:rPr lang="es-ES_tradnl" noProof="0"/>
              <a:t>Antiguos </a:t>
            </a:r>
            <a:r>
              <a:rPr lang="es-ES_tradnl" sz="1100" noProof="0">
                <a:solidFill>
                  <a:srgbClr val="6B6860"/>
                </a:solidFill>
              </a:rPr>
              <a:t>= alta en la tarjeta antes de 2025 (341 clientes); nuevos = alta en 2025 (859) · Fuente: POS Multitienda del Sur, 2025 · Elaboración Grupo 3</a:t>
            </a:r>
            <a:endParaRPr lang="es-ES_tradnl" sz="1100" noProof="0"/>
          </a:p>
        </p:txBody>
      </p:sp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AF9D2ECA-5E45-FB17-5050-0B2946893A5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z="1100" b="0" i="0" u="none" strike="noStrike" cap="none" noProof="0" smtClean="0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s-ES_tradnl" sz="1100" b="0" i="0" u="none" strike="noStrike" cap="none" noProof="0">
              <a:solidFill>
                <a:srgbClr val="6B68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EB0FD1-8096-D765-01BC-74544A450E13}"/>
              </a:ext>
            </a:extLst>
          </p:cNvPr>
          <p:cNvSpPr txBox="1"/>
          <p:nvPr/>
        </p:nvSpPr>
        <p:spPr>
          <a:xfrm>
            <a:off x="271671" y="1935712"/>
            <a:ext cx="3931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noProof="0">
                <a:solidFill>
                  <a:srgbClr val="14213D"/>
                </a:solidFill>
              </a:rPr>
              <a:t>Cantidad de clientes activos</a:t>
            </a:r>
            <a:endParaRPr lang="es-ES_tradnl" sz="1600" noProof="0">
              <a:solidFill>
                <a:schemeClr val="dk1"/>
              </a:solidFill>
            </a:endParaRPr>
          </a:p>
          <a:p>
            <a:endParaRPr lang="es-ES_tradnl" sz="1600" noProof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4D4A23-DE13-ACA4-FBC3-77D3725B2A94}"/>
              </a:ext>
            </a:extLst>
          </p:cNvPr>
          <p:cNvSpPr txBox="1"/>
          <p:nvPr/>
        </p:nvSpPr>
        <p:spPr>
          <a:xfrm>
            <a:off x="6244376" y="1935712"/>
            <a:ext cx="554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noProof="0">
                <a:solidFill>
                  <a:srgbClr val="14213D"/>
                </a:solidFill>
              </a:rPr>
              <a:t>Porcentaje de clientes nuevos que vuelven en 90 días</a:t>
            </a:r>
            <a:endParaRPr lang="es-ES_tradnl" sz="1600" noProof="0">
              <a:solidFill>
                <a:schemeClr val="dk1"/>
              </a:solidFill>
            </a:endParaRPr>
          </a:p>
          <a:p>
            <a:endParaRPr lang="es-ES_tradnl" sz="1600" noProof="0"/>
          </a:p>
        </p:txBody>
      </p:sp>
      <p:sp>
        <p:nvSpPr>
          <p:cNvPr id="11" name="Google Shape;81;p4">
            <a:extLst>
              <a:ext uri="{FF2B5EF4-FFF2-40B4-BE49-F238E27FC236}">
                <a16:creationId xmlns:a16="http://schemas.microsoft.com/office/drawing/2014/main" id="{D03D438D-AADA-40D1-51C5-5AC15BD3E35E}"/>
              </a:ext>
            </a:extLst>
          </p:cNvPr>
          <p:cNvSpPr/>
          <p:nvPr/>
        </p:nvSpPr>
        <p:spPr>
          <a:xfrm>
            <a:off x="271671" y="771354"/>
            <a:ext cx="11520066" cy="1013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2" name="Google Shape;83;p4">
            <a:extLst>
              <a:ext uri="{FF2B5EF4-FFF2-40B4-BE49-F238E27FC236}">
                <a16:creationId xmlns:a16="http://schemas.microsoft.com/office/drawing/2014/main" id="{A159C328-ECDE-19EF-2D01-5037D4AF0CB3}"/>
              </a:ext>
            </a:extLst>
          </p:cNvPr>
          <p:cNvSpPr txBox="1"/>
          <p:nvPr/>
        </p:nvSpPr>
        <p:spPr>
          <a:xfrm>
            <a:off x="458155" y="824564"/>
            <a:ext cx="3745354" cy="30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s-ES_tradnl" sz="18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¿Quién es cliente nuevo?</a:t>
            </a:r>
            <a:endParaRPr lang="es-ES_tradnl" sz="18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4;p4">
            <a:extLst>
              <a:ext uri="{FF2B5EF4-FFF2-40B4-BE49-F238E27FC236}">
                <a16:creationId xmlns:a16="http://schemas.microsoft.com/office/drawing/2014/main" id="{9633ED00-EBB3-D1C3-9F5F-76F07C128E6A}"/>
              </a:ext>
            </a:extLst>
          </p:cNvPr>
          <p:cNvSpPr txBox="1"/>
          <p:nvPr/>
        </p:nvSpPr>
        <p:spPr>
          <a:xfrm>
            <a:off x="458155" y="1131073"/>
            <a:ext cx="6083608" cy="73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s-ES_tradnl" sz="3200" b="1" i="0" u="none" strike="noStrike" cap="none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Fecha de alta en 2025</a:t>
            </a:r>
            <a:endParaRPr lang="es-ES_tradnl" sz="3200" b="1" i="0" u="none" strike="noStrike" cap="none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Google Shape;84;p4">
            <a:extLst>
              <a:ext uri="{FF2B5EF4-FFF2-40B4-BE49-F238E27FC236}">
                <a16:creationId xmlns:a16="http://schemas.microsoft.com/office/drawing/2014/main" id="{F801C08F-A91D-7448-E55C-CC91A26A158C}"/>
              </a:ext>
            </a:extLst>
          </p:cNvPr>
          <p:cNvSpPr txBox="1"/>
          <p:nvPr/>
        </p:nvSpPr>
        <p:spPr>
          <a:xfrm>
            <a:off x="6230535" y="931671"/>
            <a:ext cx="5372561" cy="96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4A5568"/>
              </a:buClr>
              <a:buSzPts val="1400"/>
            </a:pPr>
            <a:r>
              <a:rPr lang="es-ES_tradnl" sz="2000" i="0" u="none" strike="noStrike" cap="none" noProof="0">
                <a:solidFill>
                  <a:schemeClr val="dk1"/>
                </a:solidFill>
              </a:rPr>
              <a:t>Contar la primera boleta del año sumaría como “nuevos” a clientes antiguos que vuelven.</a:t>
            </a:r>
            <a:br>
              <a:rPr lang="es-ES_tradnl" sz="1400" b="1" i="0" u="none" strike="noStrike" cap="none" noProof="0">
                <a:solidFill>
                  <a:schemeClr val="dk1"/>
                </a:solidFill>
              </a:rPr>
            </a:br>
            <a:endParaRPr lang="es-ES_tradnl" sz="1400" b="1" i="0" u="none" strike="noStrike" cap="none" noProof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buClr>
                <a:srgbClr val="4A5568"/>
              </a:buClr>
              <a:buSzPts val="1400"/>
            </a:pPr>
            <a:br>
              <a:rPr lang="es-ES_tradnl" sz="1400" b="1" i="0" u="none" strike="noStrike" cap="none" noProof="0">
                <a:solidFill>
                  <a:schemeClr val="dk1"/>
                </a:solidFill>
              </a:rPr>
            </a:br>
            <a:endParaRPr lang="es-ES_tradnl" sz="1400" b="1" i="0" u="none" strike="noStrike" cap="none" noProof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57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</a:pPr>
            <a:r>
              <a:rPr lang="es-ES_tradnl" sz="30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La definición de “cliente activo” mueve el número, </a:t>
            </a:r>
            <a:r>
              <a:rPr lang="es-ES_tradnl" noProof="0"/>
              <a:t>pero no</a:t>
            </a:r>
            <a:r>
              <a:rPr lang="es-ES_tradnl" sz="30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 la conclusión</a:t>
            </a:r>
            <a:endParaRPr lang="es-ES_tradnl" sz="3000" noProof="0"/>
          </a:p>
        </p:txBody>
      </p:sp>
      <p:graphicFrame>
        <p:nvGraphicFramePr>
          <p:cNvPr id="79" name="Google Shape;79;p4"/>
          <p:cNvGraphicFramePr/>
          <p:nvPr>
            <p:extLst>
              <p:ext uri="{D42A27DB-BD31-4B8C-83A1-F6EECF244321}">
                <p14:modId xmlns:p14="http://schemas.microsoft.com/office/powerpoint/2010/main" val="1884595623"/>
              </p:ext>
            </p:extLst>
          </p:nvPr>
        </p:nvGraphicFramePr>
        <p:xfrm>
          <a:off x="777240" y="1600200"/>
          <a:ext cx="10564404" cy="2011700"/>
        </p:xfrm>
        <a:graphic>
          <a:graphicData uri="http://schemas.openxmlformats.org/drawingml/2006/table">
            <a:tbl>
              <a:tblPr firstRow="1">
                <a:noFill/>
                <a:tableStyleId>{FA7AC9C6-C6E4-49D6-8E44-5D6F4D56396A}</a:tableStyleId>
              </a:tblPr>
              <a:tblGrid>
                <a:gridCol w="4268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Compró en los últimos…</a:t>
                      </a:r>
                      <a:endParaRPr lang="es-ES_tradnl" sz="1600" u="none" strike="noStrike" cap="none" noProof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Retención</a:t>
                      </a:r>
                      <a:endParaRPr lang="es-ES_tradnl" sz="1600" u="none" strike="noStrike" cap="none" noProof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Reemplazos en dic</a:t>
                      </a:r>
                      <a:endParaRPr lang="es-ES_tradnl" sz="1600" u="none" strike="noStrike" cap="none" noProof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días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18,6%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86%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 días ✓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41,5%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b="1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 días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58,6%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600"/>
                        <a:buFont typeface="Arial"/>
                        <a:buNone/>
                      </a:pPr>
                      <a:r>
                        <a:rPr lang="es-ES_tradnl" sz="1600" u="none" strike="noStrike" cap="none" noProof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59%</a:t>
                      </a:r>
                      <a:endParaRPr lang="es-ES_tradnl" sz="1600" u="none" strike="noStrike" cap="none" noProof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50" marR="73150" marT="73150" marB="73150" anchor="ctr">
                    <a:lnL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A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4"/>
          <p:cNvSpPr txBox="1"/>
          <p:nvPr/>
        </p:nvSpPr>
        <p:spPr>
          <a:xfrm>
            <a:off x="809244" y="3657620"/>
            <a:ext cx="1063721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Retención = clientes activos al 30-jun que siguen activos al 31-dic ÷ activos al 30-jun. 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809244" y="6428760"/>
            <a:ext cx="10088575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6860"/>
              </a:buClr>
              <a:buSzPts val="1100"/>
              <a:buNone/>
            </a:pPr>
            <a:r>
              <a:rPr lang="es-ES_tradnl" sz="1100" noProof="0">
                <a:solidFill>
                  <a:srgbClr val="6B6860"/>
                </a:solidFill>
              </a:rPr>
              <a:t>Clientes identificados, 2025 · Las ventanas comparadas no se traslapan (abr–jun vs oct–dic con 90 días) · Fuente: POS Multitienda del Sur · Elaboración Grupo 3</a:t>
            </a:r>
            <a:endParaRPr lang="es-ES_tradnl" sz="1100" noProof="0"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4294967295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z="1100" b="0" i="0" u="none" strike="noStrike" cap="none" noProof="0" smtClean="0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s-ES_tradnl" sz="1100" b="0" i="0" u="none" strike="noStrike" cap="none" noProof="0">
              <a:solidFill>
                <a:srgbClr val="6B68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1;p4">
            <a:extLst>
              <a:ext uri="{FF2B5EF4-FFF2-40B4-BE49-F238E27FC236}">
                <a16:creationId xmlns:a16="http://schemas.microsoft.com/office/drawing/2014/main" id="{A29AF8FC-5258-7DF9-1C10-36CC24FBAC90}"/>
              </a:ext>
            </a:extLst>
          </p:cNvPr>
          <p:cNvSpPr/>
          <p:nvPr/>
        </p:nvSpPr>
        <p:spPr>
          <a:xfrm>
            <a:off x="777239" y="4091940"/>
            <a:ext cx="10517511" cy="22174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3" name="Google Shape;83;p4">
            <a:extLst>
              <a:ext uri="{FF2B5EF4-FFF2-40B4-BE49-F238E27FC236}">
                <a16:creationId xmlns:a16="http://schemas.microsoft.com/office/drawing/2014/main" id="{782CAD30-D8A6-9830-110D-CB7D60EFF113}"/>
              </a:ext>
            </a:extLst>
          </p:cNvPr>
          <p:cNvSpPr txBox="1"/>
          <p:nvPr/>
        </p:nvSpPr>
        <p:spPr>
          <a:xfrm>
            <a:off x="1051560" y="4274820"/>
            <a:ext cx="2864815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s-ES_tradnl" sz="18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¿Por qué 90 días?</a:t>
            </a:r>
            <a:endParaRPr lang="es-ES_tradnl" sz="18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4;p4">
            <a:extLst>
              <a:ext uri="{FF2B5EF4-FFF2-40B4-BE49-F238E27FC236}">
                <a16:creationId xmlns:a16="http://schemas.microsoft.com/office/drawing/2014/main" id="{D9014209-9BEB-E97A-AC02-F38F309728AD}"/>
              </a:ext>
            </a:extLst>
          </p:cNvPr>
          <p:cNvSpPr txBox="1"/>
          <p:nvPr/>
        </p:nvSpPr>
        <p:spPr>
          <a:xfrm>
            <a:off x="1051559" y="4698972"/>
            <a:ext cx="916675" cy="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s-ES_tradnl" sz="3200" b="1" i="0" u="none" strike="noStrike" cap="none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  <a:endParaRPr lang="es-ES_tradnl" sz="3200" b="1" i="0" u="none" strike="noStrike" cap="none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Google Shape;84;p4">
            <a:extLst>
              <a:ext uri="{FF2B5EF4-FFF2-40B4-BE49-F238E27FC236}">
                <a16:creationId xmlns:a16="http://schemas.microsoft.com/office/drawing/2014/main" id="{F3928C21-A1C7-0B8F-829B-402F3BACDC2F}"/>
              </a:ext>
            </a:extLst>
          </p:cNvPr>
          <p:cNvSpPr txBox="1"/>
          <p:nvPr/>
        </p:nvSpPr>
        <p:spPr>
          <a:xfrm>
            <a:off x="1051560" y="5295680"/>
            <a:ext cx="10088881" cy="85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4A5568"/>
              </a:buClr>
              <a:buSzPts val="1400"/>
            </a:pPr>
            <a:r>
              <a:rPr lang="es-ES_tradnl" sz="2000" b="0" i="0" u="none" strike="noStrike" cap="none" noProof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 los intervalos entre compras no supera los 90 días. </a:t>
            </a:r>
            <a:r>
              <a:rPr lang="es-ES_tradnl" sz="2000">
                <a:solidFill>
                  <a:srgbClr val="4A5568"/>
                </a:solidFill>
              </a:rPr>
              <a:t>Con 30 días, el </a:t>
            </a:r>
            <a:r>
              <a:rPr lang="es-ES_tradnl" sz="2000" b="1">
                <a:solidFill>
                  <a:srgbClr val="4A5568"/>
                </a:solidFill>
              </a:rPr>
              <a:t>28%</a:t>
            </a:r>
            <a:r>
              <a:rPr lang="es-ES_tradnl" sz="2000">
                <a:solidFill>
                  <a:srgbClr val="4A5568"/>
                </a:solidFill>
              </a:rPr>
              <a:t> de las pausas observadas se leería como inactividad.</a:t>
            </a:r>
            <a:endParaRPr lang="es-ES_tradnl" sz="200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endParaRPr lang="es-ES_tradnl" sz="1400" b="1" i="0" u="none" strike="noStrike" cap="none" noProof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3C39E6C-E1EA-0873-450B-5837AC4E217A}"/>
              </a:ext>
            </a:extLst>
          </p:cNvPr>
          <p:cNvSpPr/>
          <p:nvPr/>
        </p:nvSpPr>
        <p:spPr>
          <a:xfrm>
            <a:off x="8359622" y="4251959"/>
            <a:ext cx="3406186" cy="17085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32B146D-E729-EE5A-5794-9B2EBC9E085F}"/>
              </a:ext>
            </a:extLst>
          </p:cNvPr>
          <p:cNvSpPr/>
          <p:nvPr/>
        </p:nvSpPr>
        <p:spPr>
          <a:xfrm>
            <a:off x="8359623" y="2360888"/>
            <a:ext cx="3406186" cy="17085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B398368-CAC0-3D3D-1AF9-5F6A94E9C583}"/>
              </a:ext>
            </a:extLst>
          </p:cNvPr>
          <p:cNvSpPr/>
          <p:nvPr/>
        </p:nvSpPr>
        <p:spPr>
          <a:xfrm>
            <a:off x="8359624" y="479246"/>
            <a:ext cx="3406186" cy="17085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</a:pPr>
            <a:r>
              <a:rPr lang="es-ES_tradnl" sz="30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Decisiones</a:t>
            </a:r>
            <a:r>
              <a:rPr lang="es-ES_tradnl" noProof="0"/>
              <a:t> clave del modelo</a:t>
            </a:r>
            <a:endParaRPr lang="es-ES_tradnl" sz="3000" noProof="0"/>
          </a:p>
        </p:txBody>
      </p:sp>
      <p:sp>
        <p:nvSpPr>
          <p:cNvPr id="97" name="Google Shape;97;p5"/>
          <p:cNvSpPr/>
          <p:nvPr/>
        </p:nvSpPr>
        <p:spPr>
          <a:xfrm>
            <a:off x="8230978" y="495466"/>
            <a:ext cx="45719" cy="1692299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98" name="Google Shape;98;p5"/>
          <p:cNvSpPr txBox="1"/>
          <p:nvPr/>
        </p:nvSpPr>
        <p:spPr>
          <a:xfrm>
            <a:off x="8503920" y="569997"/>
            <a:ext cx="29105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s-ES_tradnl" sz="18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Cliente - clasificación</a:t>
            </a:r>
            <a:endParaRPr lang="es-ES_tradnl" sz="18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8503920" y="952264"/>
            <a:ext cx="3122226" cy="80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s-ES_tradnl" noProof="0">
                <a:solidFill>
                  <a:schemeClr val="tx1"/>
                </a:solidFill>
              </a:rPr>
              <a:t>Se clasificaron como antiguos (fecha de alta pre 2025) o nuevos (fecha de alta en 2025). Las categorías clásico, plus y </a:t>
            </a:r>
            <a:r>
              <a:rPr lang="es-ES_tradnl" noProof="0" err="1">
                <a:solidFill>
                  <a:schemeClr val="tx1"/>
                </a:solidFill>
              </a:rPr>
              <a:t>black</a:t>
            </a:r>
            <a:r>
              <a:rPr lang="es-ES_tradnl" noProof="0">
                <a:solidFill>
                  <a:schemeClr val="tx1"/>
                </a:solidFill>
              </a:rPr>
              <a:t> no se diferencian significativamente</a:t>
            </a:r>
            <a:endParaRPr lang="es-ES_tradnl" sz="1400" b="0" i="0" u="none" strike="noStrike" cap="none" noProof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6593" y="2400629"/>
            <a:ext cx="64008" cy="169229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01" name="Google Shape;101;p5"/>
          <p:cNvSpPr txBox="1"/>
          <p:nvPr/>
        </p:nvSpPr>
        <p:spPr>
          <a:xfrm>
            <a:off x="8503920" y="2400629"/>
            <a:ext cx="29105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s-ES_tradnl" sz="16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Tienda – comparación </a:t>
            </a:r>
            <a:endParaRPr lang="es-ES_tradnl" sz="1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8503920" y="2855214"/>
            <a:ext cx="310393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s-ES_tradnl" sz="1400" b="0" i="0" u="none" strike="noStrike" cap="none" noProof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 calculó la retención por local. Cada cliente asignado a su tienda principal para evitar contabilizarlo doble.</a:t>
            </a:r>
          </a:p>
        </p:txBody>
      </p:sp>
      <p:sp>
        <p:nvSpPr>
          <p:cNvPr id="103" name="Google Shape;103;p5"/>
          <p:cNvSpPr/>
          <p:nvPr/>
        </p:nvSpPr>
        <p:spPr>
          <a:xfrm>
            <a:off x="8229600" y="4251959"/>
            <a:ext cx="47097" cy="1692297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04" name="Google Shape;104;p5"/>
          <p:cNvSpPr txBox="1"/>
          <p:nvPr/>
        </p:nvSpPr>
        <p:spPr>
          <a:xfrm>
            <a:off x="8485631" y="4315967"/>
            <a:ext cx="29105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s-ES_tradnl" sz="16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Fecha - consistencia</a:t>
            </a:r>
            <a:endParaRPr lang="es-ES_tradnl" sz="1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8468721" y="4874642"/>
            <a:ext cx="294573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s-ES_tradnl" sz="1400" b="0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Permite comparar los periodos de actividad</a:t>
            </a:r>
            <a:r>
              <a:rPr lang="es-ES_tradnl" noProof="0" dirty="0">
                <a:solidFill>
                  <a:schemeClr val="tx1"/>
                </a:solidFill>
              </a:rPr>
              <a:t>. Se incorporaron ajustes por inflación para normalizar el impacto económico</a:t>
            </a:r>
            <a:endParaRPr lang="es-ES_tradnl" sz="1400" b="0" i="0" u="none" strike="noStrike" cap="none" noProof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body" idx="1"/>
          </p:nvPr>
        </p:nvSpPr>
        <p:spPr>
          <a:xfrm>
            <a:off x="777240" y="6309360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6860"/>
              </a:buClr>
              <a:buSzPts val="1100"/>
              <a:buNone/>
            </a:pPr>
            <a:r>
              <a:rPr lang="es-ES_tradnl" sz="1100" noProof="0">
                <a:solidFill>
                  <a:srgbClr val="6B6860"/>
                </a:solidFill>
              </a:rPr>
              <a:t>POS (SQLite) · maestro de productos (CSV) · campañas (JSON) · IPC de </a:t>
            </a:r>
            <a:r>
              <a:rPr lang="es-ES_tradnl" sz="1100" noProof="0" err="1">
                <a:solidFill>
                  <a:srgbClr val="6B6860"/>
                </a:solidFill>
              </a:rPr>
              <a:t>mindicador.cl</a:t>
            </a:r>
            <a:r>
              <a:rPr lang="es-ES_tradnl" sz="1100" noProof="0">
                <a:solidFill>
                  <a:srgbClr val="6B6860"/>
                </a:solidFill>
              </a:rPr>
              <a:t> (API).</a:t>
            </a:r>
            <a:endParaRPr lang="es-ES_tradnl" sz="1100" noProof="0"/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4294967295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z="1100" b="0" i="0" u="none" strike="noStrike" cap="none" noProof="0" smtClean="0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s-ES_tradnl" sz="1100" b="0" i="0" u="none" strike="noStrike" cap="none" noProof="0">
              <a:solidFill>
                <a:srgbClr val="6B68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5" title="Modelo estrella de ventas 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85" y="1353849"/>
            <a:ext cx="7611691" cy="460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Georgia"/>
              <a:buNone/>
            </a:pPr>
            <a:r>
              <a:rPr lang="es-ES_tradnl" sz="3000" b="1" noProof="0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Recomendación: retener antes de captar</a:t>
            </a:r>
            <a:endParaRPr lang="es-ES_tradnl" sz="3000" noProof="0"/>
          </a:p>
        </p:txBody>
      </p:sp>
      <p:sp>
        <p:nvSpPr>
          <p:cNvPr id="115" name="Google Shape;115;p6"/>
          <p:cNvSpPr/>
          <p:nvPr/>
        </p:nvSpPr>
        <p:spPr>
          <a:xfrm>
            <a:off x="777240" y="1417320"/>
            <a:ext cx="67967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E2D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16" name="Google Shape;116;p6"/>
          <p:cNvSpPr txBox="1"/>
          <p:nvPr/>
        </p:nvSpPr>
        <p:spPr>
          <a:xfrm>
            <a:off x="1005840" y="1417320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600"/>
              <a:buFont typeface="Georgia"/>
              <a:buNone/>
            </a:pPr>
            <a:r>
              <a:rPr lang="es-ES_tradnl" sz="2600" b="1" i="0" u="none" strike="noStrike" cap="none" noProof="0">
                <a:solidFill>
                  <a:srgbClr val="EB6834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lang="es-ES_tradnl" sz="2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554480" y="1417320"/>
            <a:ext cx="5836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15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Una definición oficial de cliente activo</a:t>
            </a:r>
            <a:r>
              <a:rPr lang="es-ES_tradnl" sz="1500" b="0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_tradnl" sz="15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(90 días), </a:t>
            </a:r>
            <a:r>
              <a:rPr lang="es-ES_tradnl" sz="1500" b="0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 la Gerencia Comercial como dueña. Hoy la retención se puede leer entre 19% y 59%.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77240" y="2587752"/>
            <a:ext cx="67967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E2D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19" name="Google Shape;119;p6"/>
          <p:cNvSpPr txBox="1"/>
          <p:nvPr/>
        </p:nvSpPr>
        <p:spPr>
          <a:xfrm>
            <a:off x="1005840" y="2587752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600"/>
              <a:buFont typeface="Georgia"/>
              <a:buNone/>
            </a:pPr>
            <a:r>
              <a:rPr lang="es-ES_tradnl" sz="2600" b="1" i="0" u="none" strike="noStrike" cap="none" noProof="0">
                <a:solidFill>
                  <a:srgbClr val="EB6834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lang="es-ES_tradnl" sz="2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554480" y="2587752"/>
            <a:ext cx="5836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15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Volver a contactar en la ventana de compra</a:t>
            </a:r>
            <a:r>
              <a:rPr lang="es-ES_tradnl" sz="1500" b="0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: a los 30–45 días sin comprar, antes de perderlo. Partir por la base antigua.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7240" y="3758184"/>
            <a:ext cx="67967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E2D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22" name="Google Shape;122;p6"/>
          <p:cNvSpPr txBox="1"/>
          <p:nvPr/>
        </p:nvSpPr>
        <p:spPr>
          <a:xfrm>
            <a:off x="1005840" y="3758184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600"/>
              <a:buFont typeface="Georgia"/>
              <a:buNone/>
            </a:pPr>
            <a:r>
              <a:rPr lang="es-ES_tradnl" sz="2600" b="1" i="0" u="none" strike="noStrike" cap="none" noProof="0">
                <a:solidFill>
                  <a:srgbClr val="EB6834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lang="es-ES_tradnl" sz="2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1554480" y="3758184"/>
            <a:ext cx="5836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15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Asegurar la segunda compra</a:t>
            </a:r>
            <a:r>
              <a:rPr lang="es-ES_tradnl" sz="1500" b="0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de los clientes nuevos en sus primeros 30 días.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77240" y="4928616"/>
            <a:ext cx="67967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E2D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25" name="Google Shape;125;p6"/>
          <p:cNvSpPr txBox="1"/>
          <p:nvPr/>
        </p:nvSpPr>
        <p:spPr>
          <a:xfrm>
            <a:off x="1005840" y="4928616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600"/>
              <a:buFont typeface="Georgia"/>
              <a:buNone/>
            </a:pPr>
            <a:r>
              <a:rPr lang="es-ES_tradnl" sz="2600" b="1" i="0" u="none" strike="noStrike" cap="none" noProof="0">
                <a:solidFill>
                  <a:srgbClr val="EB6834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lang="es-ES_tradnl" sz="2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1554480" y="4928616"/>
            <a:ext cx="5836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lang="es-ES_tradnl" sz="1500" b="1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Revisar primero los locales que menos retienen</a:t>
            </a:r>
            <a:r>
              <a:rPr lang="es-ES_tradnl" sz="1500" b="0" i="0" u="none" strike="noStrike" cap="none" noProof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: La Florida 25%, Concepción 30%, Maipú y Viña 32% (cadena 41,5%).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848295" y="1417320"/>
            <a:ext cx="3566160" cy="4517136"/>
          </a:xfrm>
          <a:prstGeom prst="roundRect">
            <a:avLst>
              <a:gd name="adj" fmla="val 2051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_tradnl" noProof="0"/>
          </a:p>
        </p:txBody>
      </p:sp>
      <p:sp>
        <p:nvSpPr>
          <p:cNvPr id="128" name="Google Shape;128;p6"/>
          <p:cNvSpPr txBox="1"/>
          <p:nvPr/>
        </p:nvSpPr>
        <p:spPr>
          <a:xfrm>
            <a:off x="8168335" y="1737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9B6E"/>
              </a:buClr>
              <a:buSzPts val="1300"/>
              <a:buFont typeface="Arial"/>
              <a:buNone/>
            </a:pPr>
            <a:r>
              <a:rPr lang="es-ES_tradnl" sz="1300" b="1" i="0" u="none" strike="noStrike" cap="none" noProof="0">
                <a:solidFill>
                  <a:srgbClr val="F29B6E"/>
                </a:solidFill>
                <a:latin typeface="Arial"/>
                <a:ea typeface="Arial"/>
                <a:cs typeface="Arial"/>
                <a:sym typeface="Arial"/>
              </a:rPr>
              <a:t>LO QUE VALE</a:t>
            </a:r>
            <a:endParaRPr lang="es-ES_tradnl" sz="13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8168335" y="210312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4600"/>
              <a:buFont typeface="Georgia"/>
              <a:buNone/>
            </a:pPr>
            <a:r>
              <a:rPr lang="es-ES_tradnl" sz="4600" b="1" i="0" u="none" strike="noStrike" cap="none" noProof="0">
                <a:solidFill>
                  <a:srgbClr val="F4F1EA"/>
                </a:solidFill>
                <a:latin typeface="Georgia"/>
                <a:ea typeface="Georgia"/>
                <a:cs typeface="Georgia"/>
                <a:sym typeface="Georgia"/>
              </a:rPr>
              <a:t>$6,8 MM</a:t>
            </a:r>
            <a:endParaRPr lang="es-ES_tradnl" sz="46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8168335" y="29718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de venta al año por cada 10 puntos de retención (≈ 49 clientes)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>
            <a:off x="8168335" y="3977640"/>
            <a:ext cx="2926080" cy="0"/>
          </a:xfrm>
          <a:prstGeom prst="straightConnector1">
            <a:avLst/>
          </a:prstGeom>
          <a:noFill/>
          <a:ln w="15875" cap="flat" cmpd="sng">
            <a:solidFill>
              <a:srgbClr val="3446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6"/>
          <p:cNvSpPr txBox="1"/>
          <p:nvPr/>
        </p:nvSpPr>
        <p:spPr>
          <a:xfrm>
            <a:off x="8168335" y="41605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500"/>
              <a:buFont typeface="Arial"/>
              <a:buNone/>
            </a:pPr>
            <a:r>
              <a:rPr lang="es-ES_tradnl" sz="15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Los 285 clientes perdidos gastaron </a:t>
            </a:r>
            <a:r>
              <a:rPr lang="es-ES_tradnl" sz="1500" b="1" i="0" u="none" strike="noStrike" cap="none" noProof="0">
                <a:solidFill>
                  <a:srgbClr val="F4F1EA"/>
                </a:solidFill>
                <a:latin typeface="Arial"/>
                <a:ea typeface="Arial"/>
                <a:cs typeface="Arial"/>
                <a:sym typeface="Arial"/>
              </a:rPr>
              <a:t>$19,7 MM</a:t>
            </a:r>
            <a:r>
              <a:rPr lang="es-ES_tradnl" sz="1500" b="0" i="0" u="none" strike="noStrike" cap="none" noProof="0">
                <a:solidFill>
                  <a:srgbClr val="C9D3E3"/>
                </a:solidFill>
                <a:latin typeface="Arial"/>
                <a:ea typeface="Arial"/>
                <a:cs typeface="Arial"/>
                <a:sym typeface="Arial"/>
              </a:rPr>
              <a:t> en el primer semestre</a:t>
            </a:r>
            <a:endParaRPr lang="es-ES_tradnl" sz="1500" b="0" i="0" u="none" strike="noStrike" cap="none" noProof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777240" y="6309360"/>
            <a:ext cx="1008857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6860"/>
              </a:buClr>
              <a:buSzPts val="1100"/>
              <a:buNone/>
            </a:pPr>
            <a:r>
              <a:rPr lang="es-ES_tradnl" sz="1100" noProof="0">
                <a:solidFill>
                  <a:srgbClr val="6B6860"/>
                </a:solidFill>
              </a:rPr>
              <a:t>Pesos de diciembre de 2025, deflactados con el IPC (</a:t>
            </a:r>
            <a:r>
              <a:rPr lang="es-ES_tradnl" sz="1100" noProof="0" err="1">
                <a:solidFill>
                  <a:srgbClr val="6B6860"/>
                </a:solidFill>
              </a:rPr>
              <a:t>mindicador.cl</a:t>
            </a:r>
            <a:r>
              <a:rPr lang="es-ES_tradnl" sz="1100" noProof="0">
                <a:solidFill>
                  <a:srgbClr val="6B6860"/>
                </a:solidFill>
              </a:rPr>
              <a:t>) · Supuesto: un cliente retenido mantiene su gasto mensual · Locales con 33 a 46 clientes: priorizar, no concluir</a:t>
            </a:r>
            <a:endParaRPr lang="es-ES_tradnl" sz="1100" noProof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sldNum" idx="4294967295"/>
          </p:nvPr>
        </p:nvSpPr>
        <p:spPr>
          <a:xfrm>
            <a:off x="11048695" y="6309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z="1100" b="0" i="0" u="none" strike="noStrike" cap="none" noProof="0" smtClean="0">
                <a:solidFill>
                  <a:srgbClr val="6B686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s-ES_tradnl" sz="1100" b="0" i="0" u="none" strike="noStrike" cap="none" noProof="0">
              <a:solidFill>
                <a:srgbClr val="6B68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tienda Grupo 3">
  <a:themeElements>
    <a:clrScheme name="Multitienda Grupo 3">
      <a:dk1>
        <a:srgbClr val="14213D"/>
      </a:dk1>
      <a:lt1>
        <a:srgbClr val="FFFFFF"/>
      </a:lt1>
      <a:dk2>
        <a:srgbClr val="4A5568"/>
      </a:dk2>
      <a:lt2>
        <a:srgbClr val="F7F5F0"/>
      </a:lt2>
      <a:accent1>
        <a:srgbClr val="2A78D6"/>
      </a:accent1>
      <a:accent2>
        <a:srgbClr val="EB6834"/>
      </a:accent2>
      <a:accent3>
        <a:srgbClr val="1BAF7A"/>
      </a:accent3>
      <a:accent4>
        <a:srgbClr val="9A978E"/>
      </a:accent4>
      <a:accent5>
        <a:srgbClr val="F29B6E"/>
      </a:accent5>
      <a:accent6>
        <a:srgbClr val="7FB2F0"/>
      </a:accent6>
      <a:hlink>
        <a:srgbClr val="2A78D6"/>
      </a:hlink>
      <a:folHlink>
        <a:srgbClr val="6250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ultitienda Grupo 3">
  <a:themeElements>
    <a:clrScheme name="Multitienda Grupo 3">
      <a:dk1>
        <a:srgbClr val="14213D"/>
      </a:dk1>
      <a:lt1>
        <a:srgbClr val="FFFFFF"/>
      </a:lt1>
      <a:dk2>
        <a:srgbClr val="4A5568"/>
      </a:dk2>
      <a:lt2>
        <a:srgbClr val="F7F5F0"/>
      </a:lt2>
      <a:accent1>
        <a:srgbClr val="2A78D6"/>
      </a:accent1>
      <a:accent2>
        <a:srgbClr val="EB6834"/>
      </a:accent2>
      <a:accent3>
        <a:srgbClr val="1BAF7A"/>
      </a:accent3>
      <a:accent4>
        <a:srgbClr val="9A978E"/>
      </a:accent4>
      <a:accent5>
        <a:srgbClr val="F29B6E"/>
      </a:accent5>
      <a:accent6>
        <a:srgbClr val="7FB2F0"/>
      </a:accent6>
      <a:hlink>
        <a:srgbClr val="2A78D6"/>
      </a:hlink>
      <a:folHlink>
        <a:srgbClr val="6250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3503</Words>
  <Application>Microsoft Office PowerPoint</Application>
  <PresentationFormat>Panorámica</PresentationFormat>
  <Paragraphs>164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Georgia</vt:lpstr>
      <vt:lpstr>Multitienda Grupo 3</vt:lpstr>
      <vt:lpstr>La cadena está reponiendo clientes, no reteniéndolos.</vt:lpstr>
      <vt:lpstr>De junio a diciembre, 7 de cada 10 clientes activos pasaron a ser reemplazos</vt:lpstr>
      <vt:lpstr>Los clientes antiguos se van y los nuevos vuelven cada vez menos</vt:lpstr>
      <vt:lpstr>La definición de “cliente activo” mueve el número, pero no la conclusión</vt:lpstr>
      <vt:lpstr>Decisiones clave del modelo</vt:lpstr>
      <vt:lpstr>Recomendación: retener antes de captar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Grupo 3</dc:creator>
  <cp:lastModifiedBy>Franco Marcelo Medalla Lorenzoni</cp:lastModifiedBy>
  <cp:revision>1</cp:revision>
  <dcterms:created xsi:type="dcterms:W3CDTF">2026-10-15T13:28:27Z</dcterms:created>
  <dcterms:modified xsi:type="dcterms:W3CDTF">2026-10-16T14:33:22Z</dcterms:modified>
</cp:coreProperties>
</file>