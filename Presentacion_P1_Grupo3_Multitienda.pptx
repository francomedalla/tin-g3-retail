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a respuesta" id="{96ef01f1-b004-32eb-401d-69da673b2721}">
          <p14:sldIdLst>
            <p14:sldId id="256"/>
          </p14:sldIdLst>
        </p14:section>
        <p14:section name="La evidencia" id="{e4ff2596-c18f-efa2-4875-a8a0d5e907ea}">
          <p14:sldIdLst>
            <p14:sldId id="257"/>
            <p14:sldId id="258"/>
          </p14:sldIdLst>
        </p14:section>
        <p14:section name="La definición y el cálculo" id="{f85f7fdc-6b9a-cb7e-7f49-bd30636bc290}">
          <p14:sldIdLst>
            <p14:sldId id="259"/>
            <p14:sldId id="260"/>
          </p14:sldIdLst>
        </p14:section>
        <p14:section name="Qué hacer" id="{b127144b-2bc7-681b-1067-1c16010666d6}">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Clientes activos (n.º), ventana de 90 días</a:t>
            </a:r>
          </a:p>
        </c:rich>
      </c:tx>
      <c:layout/>
      <c:overlay val="0"/>
    </c:title>
    <c:autoTitleDeleted val="0"/>
    <c:plotArea>
      <c:layout/>
      <c:barChart>
        <c:barDir val="col"/>
        <c:grouping val="stacked"/>
        <c:varyColors val="0"/>
        <c:ser>
          <c:idx val="0"/>
          <c:order val="0"/>
          <c:tx>
            <c:strRef>
              <c:f>Sheet1!$B$1</c:f>
              <c:strCache>
                <c:ptCount val="1"/>
                <c:pt idx="0">
                  <c:v>Retenidos</c:v>
                </c:pt>
              </c:strCache>
            </c:strRef>
          </c:tx>
          <c:spPr>
            <a:solidFill>
              <a:srgbClr val="2A78D6"/>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Activos al 30 de junio</c:v>
                  </c:pt>
                  <c:pt idx="1">
                    <c:v>Activos al 31 de diciembre</c:v>
                  </c:pt>
                </c:lvl>
              </c:multiLvlStrCache>
            </c:multiLvlStrRef>
          </c:cat>
          <c:val>
            <c:numRef>
              <c:f>Sheet1!$B$2:$B$3</c:f>
              <c:numCache>
                <c:formatCode>General</c:formatCode>
                <c:ptCount val="2"/>
                <c:pt idx="0">
                  <c:v>202</c:v>
                </c:pt>
                <c:pt idx="1">
                  <c:v>202</c:v>
                </c:pt>
              </c:numCache>
            </c:numRef>
          </c:val>
        </c:ser>
        <c:ser>
          <c:idx val="1"/>
          <c:order val="1"/>
          <c:tx>
            <c:strRef>
              <c:f>Sheet1!$C$1</c:f>
              <c:strCache>
                <c:ptCount val="1"/>
                <c:pt idx="0">
                  <c:v>Perdidos</c:v>
                </c:pt>
              </c:strCache>
            </c:strRef>
          </c:tx>
          <c:spPr>
            <a:solidFill>
              <a:srgbClr val="B8B6AE"/>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Activos al 30 de junio</c:v>
                  </c:pt>
                  <c:pt idx="1">
                    <c:v>Activos al 31 de diciembre</c:v>
                  </c:pt>
                </c:lvl>
              </c:multiLvlStrCache>
            </c:multiLvlStrRef>
          </c:cat>
          <c:val>
            <c:numRef>
              <c:f>Sheet1!$C$2:$C$3</c:f>
              <c:numCache>
                <c:formatCode>General</c:formatCode>
                <c:ptCount val="2"/>
                <c:pt idx="0">
                  <c:v>285</c:v>
                </c:pt>
                <c:pt idx="1">
                  <c:v>0</c:v>
                </c:pt>
              </c:numCache>
            </c:numRef>
          </c:val>
        </c:ser>
        <c:ser>
          <c:idx val="2"/>
          <c:order val="2"/>
          <c:tx>
            <c:strRef>
              <c:f>Sheet1!$D$1</c:f>
              <c:strCache>
                <c:ptCount val="1"/>
                <c:pt idx="0">
                  <c:v>Ganados: nuevos</c:v>
                </c:pt>
              </c:strCache>
            </c:strRef>
          </c:tx>
          <c:spPr>
            <a:solidFill>
              <a:srgbClr val="EB6834"/>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Activos al 30 de junio</c:v>
                  </c:pt>
                  <c:pt idx="1">
                    <c:v>Activos al 31 de diciembre</c:v>
                  </c:pt>
                </c:lvl>
              </c:multiLvlStrCache>
            </c:multiLvlStrRef>
          </c:cat>
          <c:val>
            <c:numRef>
              <c:f>Sheet1!$D$2:$D$3</c:f>
              <c:numCache>
                <c:formatCode>General</c:formatCode>
                <c:ptCount val="2"/>
                <c:pt idx="0">
                  <c:v>0</c:v>
                </c:pt>
                <c:pt idx="1">
                  <c:v>415</c:v>
                </c:pt>
              </c:numCache>
            </c:numRef>
          </c:val>
        </c:ser>
        <c:ser>
          <c:idx val="3"/>
          <c:order val="3"/>
          <c:tx>
            <c:strRef>
              <c:f>Sheet1!$E$1</c:f>
              <c:strCache>
                <c:ptCount val="1"/>
                <c:pt idx="0">
                  <c:v>Ganados: reactivados</c:v>
                </c:pt>
              </c:strCache>
            </c:strRef>
          </c:tx>
          <c:spPr>
            <a:solidFill>
              <a:srgbClr val="1BAF7A"/>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Activos al 30 de junio</c:v>
                  </c:pt>
                  <c:pt idx="1">
                    <c:v>Activos al 31 de diciembre</c:v>
                  </c:pt>
                </c:lvl>
              </c:multiLvlStrCache>
            </c:multiLvlStrRef>
          </c:cat>
          <c:val>
            <c:numRef>
              <c:f>Sheet1!$E$2:$E$3</c:f>
              <c:numCache>
                <c:formatCode>General</c:formatCode>
                <c:ptCount val="2"/>
                <c:pt idx="0">
                  <c:v>0</c:v>
                </c:pt>
                <c:pt idx="1">
                  <c:v>44</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6350" cap="flat">
              <a:solidFill>
                <a:srgbClr val="E7E6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Clientes con compra en el mes (n.º)</a:t>
            </a:r>
          </a:p>
        </c:rich>
      </c:tx>
      <c:layout/>
      <c:overlay val="0"/>
    </c:title>
    <c:autoTitleDeleted val="0"/>
    <c:plotArea>
      <c:layout/>
      <c:lineChart>
        <c:varyColors val="0"/>
        <c:ser>
          <c:idx val="0"/>
          <c:order val="0"/>
          <c:tx>
            <c:strRef>
              <c:f>Sheet1!$B$1</c:f>
              <c:strCache>
                <c:ptCount val="1"/>
                <c:pt idx="0">
                  <c:v>Base heredada (alta antes de 2025)</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A78D6"/>
              </a:solidFill>
              <a:ln w="9525" cap="flat">
                <a:solidFill>
                  <a:srgbClr val="2A78D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sep</c:v>
                  </c:pt>
                  <c:pt idx="9">
                    <c:v>oct</c:v>
                  </c:pt>
                  <c:pt idx="10">
                    <c:v>nov</c:v>
                  </c:pt>
                  <c:pt idx="11">
                    <c:v>dic</c:v>
                  </c:pt>
                </c:lvl>
              </c:multiLvlStrCache>
            </c:multiLvlStrRef>
          </c:cat>
          <c:val>
            <c:numRef>
              <c:f>Sheet1!$B$2:$B$13</c:f>
              <c:numCache>
                <c:formatCode>General</c:formatCode>
                <c:ptCount val="12"/>
                <c:pt idx="0">
                  <c:v>176</c:v>
                </c:pt>
                <c:pt idx="1">
                  <c:v>151</c:v>
                </c:pt>
                <c:pt idx="2">
                  <c:v>127</c:v>
                </c:pt>
                <c:pt idx="3">
                  <c:v>119</c:v>
                </c:pt>
                <c:pt idx="4">
                  <c:v>94</c:v>
                </c:pt>
                <c:pt idx="5">
                  <c:v>85</c:v>
                </c:pt>
                <c:pt idx="6">
                  <c:v>64</c:v>
                </c:pt>
                <c:pt idx="7">
                  <c:v>60</c:v>
                </c:pt>
                <c:pt idx="8">
                  <c:v>102</c:v>
                </c:pt>
                <c:pt idx="9">
                  <c:v>48</c:v>
                </c:pt>
                <c:pt idx="10">
                  <c:v>41</c:v>
                </c:pt>
                <c:pt idx="11">
                  <c:v>44</c:v>
                </c:pt>
              </c:numCache>
            </c:numRef>
          </c:val>
          <c:smooth val="0"/>
        </c:ser>
        <c:ser>
          <c:idx val="1"/>
          <c:order val="1"/>
          <c:tx>
            <c:strRef>
              <c:f>Sheet1!$C$1</c:f>
              <c:strCache>
                <c:ptCount val="1"/>
                <c:pt idx="0">
                  <c:v>Nuevos 2025 (alta en 2025)</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B6834"/>
              </a:solidFill>
              <a:ln w="9525" cap="flat">
                <a:solidFill>
                  <a:srgbClr val="EB6834"/>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sep</c:v>
                  </c:pt>
                  <c:pt idx="9">
                    <c:v>oct</c:v>
                  </c:pt>
                  <c:pt idx="10">
                    <c:v>nov</c:v>
                  </c:pt>
                  <c:pt idx="11">
                    <c:v>dic</c:v>
                  </c:pt>
                </c:lvl>
              </c:multiLvlStrCache>
            </c:multiLvlStrRef>
          </c:cat>
          <c:val>
            <c:numRef>
              <c:f>Sheet1!$C$2:$C$13</c:f>
              <c:numCache>
                <c:formatCode>General</c:formatCode>
                <c:ptCount val="12"/>
                <c:pt idx="0">
                  <c:v>32</c:v>
                </c:pt>
                <c:pt idx="1">
                  <c:v>69</c:v>
                </c:pt>
                <c:pt idx="2">
                  <c:v>112</c:v>
                </c:pt>
                <c:pt idx="3">
                  <c:v>127</c:v>
                </c:pt>
                <c:pt idx="4">
                  <c:v>140</c:v>
                </c:pt>
                <c:pt idx="5">
                  <c:v>173</c:v>
                </c:pt>
                <c:pt idx="6">
                  <c:v>147</c:v>
                </c:pt>
                <c:pt idx="7">
                  <c:v>192</c:v>
                </c:pt>
                <c:pt idx="8">
                  <c:v>250</c:v>
                </c:pt>
                <c:pt idx="9">
                  <c:v>241</c:v>
                </c:pt>
                <c:pt idx="10">
                  <c:v>287</c:v>
                </c:pt>
                <c:pt idx="11">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7E6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Nuevos que vuelven a comprar en 90 días, por mes de llegada (%)</a:t>
            </a:r>
          </a:p>
        </c:rich>
      </c:tx>
      <c:layout/>
      <c:overlay val="0"/>
    </c:title>
    <c:autoTitleDeleted val="0"/>
    <c:plotArea>
      <c:layout/>
      <c:barChart>
        <c:barDir val="col"/>
        <c:grouping val="clustered"/>
        <c:varyColors val="0"/>
        <c:ser>
          <c:idx val="0"/>
          <c:order val="0"/>
          <c:tx>
            <c:strRef>
              <c:f>Sheet1!$B$1</c:f>
              <c:strCache>
                <c:ptCount val="1"/>
                <c:pt idx="0">
                  <c:v>Vuelven en 90 días</c:v>
                </c:pt>
              </c:strCache>
            </c:strRef>
          </c:tx>
          <c:spPr>
            <a:solidFill>
              <a:srgbClr val="EB6834"/>
            </a:solidFill>
            <a:effectLst/>
          </c:spPr>
          <c:invertIfNegative val="0"/>
          <c:dLbls>
            <c:numFmt formatCode="0%"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0.844</c:v>
                </c:pt>
                <c:pt idx="1">
                  <c:v>0.76</c:v>
                </c:pt>
                <c:pt idx="2">
                  <c:v>0.627</c:v>
                </c:pt>
                <c:pt idx="3">
                  <c:v>0.656</c:v>
                </c:pt>
                <c:pt idx="4">
                  <c:v>0.704</c:v>
                </c:pt>
                <c:pt idx="5">
                  <c:v>0.597</c:v>
                </c:pt>
                <c:pt idx="6">
                  <c:v>0.571</c:v>
                </c:pt>
                <c:pt idx="7">
                  <c:v>0.616</c:v>
                </c:pt>
                <c:pt idx="8">
                  <c:v>0.582</c:v>
                </c:pt>
              </c:numCache>
            </c:numRef>
          </c:val>
        </c:ser>
        <c:dLbls>
          <c:numFmt formatCode="0%"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7E6E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ABRE CON LA RESPUESTA, NO CON EL CONTEXTO]
“Buenos días. Nos preguntaron si Multitienda del Sur está reteniendo a sus clientes o reponiéndolos con compradores de una sola vez. La respuesta corta: los está reponiendo.
De los clientes que estaban activos en junio, solo el 41,5% seguía comprando en diciembre. Y de los clientes activos en diciembre, casi 7 de cada 10 no compraban en junio: son reemplazos.
Por eso las ventas se ven planas: la base no crece, se recambia.
Nuestra recomendación es fijar una definición oficial de cliente activo y poner la retención antes que la captación. Cada 10 puntos de retención valen cerca de 6,8 millones de pesos de venta al año.
Y adelantamos lo que nos van a preguntar: ‘activo’ es haber comprado en los últimos 90 días. Si usamos 180, los números cambian a 58,6% y 59%, pero la conclusión es la misma.”
Pasar a la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EL NÚCLEO DE LA RESPUESTA]
“Esta es la foto que responde la pregunta. A la izquierda, los 487 clientes que estaban activos el 30 de junio. A la derecha, los 661 activos el 31 de diciembre.
Solo 202 aparecen en las dos fotos: esos son los retenidos. Los otros 285 de junio dejaron de comprar, el 59% de la base.
En diciembre hay más clientes activos que en junio, y eso es lo que hace ver las ventas sanas. Pero 459 de esos 661 no estaban en junio: 415 son clientes nuevos y 44 son clientes antiguos que volvieron.
O sea: la cadena no está sumando clientes, los está cambiando.”
Si preguntan “¿no es bueno tener más clientes en diciembre?”: sí, pero depende de seguir captando al mismo ritmo para no caer; y la siguiente lámina muestra que los que llegan vuelven cada vez menos.
Pasar a la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POR QUÉ ES UN PROBLEMA Y NO SOLO UN RECAMBIO]
“¿Por qué decimos que esto es frágil? Por dos cosas.
A la izquierda: los clientes que ya tenían tarjeta antes de 2025 —la base antigua— eran 176 comprando en enero y terminan el año en 44. Y retienen peor que los nuevos: 36% contra 45%. Los clientes de siempre se están yendo.
A la derecha: los clientes con que se repone esa pérdida vuelven cada vez menos. De los que llegaron en enero, el 84% volvió a comprar dentro de 90 días; de los que llegaron en septiembre, solo el 58%.
Entonces, para mantener las ventas planas la cadena tiene que captar cada vez más.”
Si preguntan por la fecha de alta: “Ustedes nos dijeron que la fecha de alta era la primera compra. Lo revisamos: 311 clientes tienen el alta después de su primera boleta, así que el alta es la inscripción en la tarjeta. La usamos solo para separar clientes antiguos de nuevos.”
Pasar a la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 LA LÁMINA QUE MÁS PESA: 30% DE LA NOTA ES DEFENDER ESTO]
“Ustedes no tenían una definición de cuándo un cliente deja de serlo. Nos dijeron que creían que era un mes, pero que era una creencia. Así que tuvimos que cerrarla.
Elegimos 90 días. ¿Por qué? Porque medimos cada cuánto vuelve un mismo cliente: la mitad de las veces vuelve en 13 días, pero el 28% de las pausas normales dura más de 30 días. Con su ventana de un mes, a un cliente que compra cada cinco semanas lo daríamos por perdido. Con 90 días, eso pasa solo en el 7% de los casos.
Y lo importante: probamos las tres ventanas. Con 30 días la retención es 19%; con 90, 41,5%; con 180, 58,6%. El número cambia mucho —17 puntos entre 90 y 180—, pero la conclusión no: en los tres casos más de la mitad de la base de diciembre son reemplazos. Elegimos 90 y no 30 justamente porque con 30 el resultado nos daba aún más a favor; preferimos la definición que menos nos favorece entre las razonables.
Segunda decisión: cliente nuevo es el que se inscribió en 2025, no el que hizo su primera boleta del año, porque eso contaría como nuevos a clientes antiguos que vuelven.”
PREGUNTAS PROBABLES:
• “¿Por qué no 365 días?” → Solo hay datos de 2025: no se puede calcular.
• “¿Por qué no medir mes a mes?” → Con ventana de 90 días, el mismo cliente contaría como activo tres meses seguidos y la retención se inflaría. Por eso comparamos dos fotos que no se traslapan.
• “¿Diciembre no distorsiona?” → Puede hacer ver activos a clientes que solo vienen en fiestas; eso SUBE la retención, o sea juega en contra de nuestra conclusión.
• “¿Y los anónimos?” → Son el 13% de las boletas y el 6% del ingreso. Sin tarjeta no se puede seguir a nadie; quedan fuera y lo declaramos.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ÚNICA LÁMINA TÉCNICA, PASARLA RÁPIDO]
“Brevemente, cómo llegamos al número. Integramos las cuatro fuentes: la base de ventas, el maestro de productos, las campañas y el IPC mensual desde la API de mindicador.cl. Cada fila del modelo es un producto vendido en una boleta; una visita es una boleta con monto positivo, para que una devolución no haga parecer activo a un cliente.
Cubrimos el 85% de las boletas. El 13% son compras sin tarjeta, que no se pueden seguir en el tiempo, y las declaramos aparte. Todo corre de cero desde el repositorio.”
Si preguntan por calidad de datos: había fechas en cinco formatos, 62 boletas duplicadas, 38 con año 2026, y 408 boletas sin tarjeta donde la caja numera dos productos distintos como “línea 1”; todo está en la bitácora de supuestos.
Pasar a la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CERRAR CON LA ACCIÓN Y LA PLATA. TERMINAR ANTES DE 7:00]
“¿Qué haría con esto? Cuatro cosas, en orden.
Primero, una sola definición de cliente activo, con dueño. Hoy, según quién la calcule, la retención puede leerse entre 19% y 59%. Sin una definición única no se puede evaluar ninguna campaña de fidelización.
Segundo, volver a contactar a los clientes en su ventana de compra, que Marketing nos contó que dejó de hacer. Si un cliente vuelve normalmente en dos semanas, uno que lleva 30 a 45 días sin venir es la alerta para contactarlo, antes de perderlo. Partiendo por la base antigua, que es la que más se va.
Tercero, asegurar la segunda compra de los clientes nuevos en su primer mes.
Y cuarto, revisar primero los locales que menos retienen, como La Florida o Concepción, antes de pensar en cambiar el formato.
¿Cuánto vale? Los 285 clientes que se perdieron gastaron 19,7 millones de pesos en el primer semestre. Subir la retención en 10 puntos son unos 49 clientes y cerca de 6,8 millones de pesos de venta al año.
Muchas gracias.”
Si preguntan por los locales: “Son 33 a 46 clientes por local, así que diferencias de menos de 15 puntos no son concluyentes; con 180 días el orden cambia. Sirve para priorizar a quién revisar, no para concluir.”
Si preguntan por la cifra en pesos: es venta, no margen; supone que el cliente retenido mantiene su gasto mensual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O">
    <p:bg>
      <p:bgPr>
        <a:solidFill>
          <a:srgbClr val="1421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77240" y="548640"/>
            <a:ext cx="10637215" cy="365760"/>
          </a:xfrm>
          <a:prstGeom prst="rect">
            <a:avLst/>
          </a:prstGeom>
          <a:noFill/>
          <a:ln/>
        </p:spPr>
        <p:txBody>
          <a:bodyPr wrap="square" rtlCol="0"/>
          <a:lstStyle>
            <a:lvl1pPr algn="l" indent="0" marL="0">
              <a:buNone/>
              <a:defRPr lang="en-US" sz="1300" b="1" spc="300" kern="0" dirty="0">
                <a:solidFill>
                  <a:srgbClr val="F29B6E"/>
                </a:solidFill>
              </a:defRPr>
            </a:lvl1pPr>
          </a:lstStyle>
          <a:p>
            <a:pPr algn="l" indent="0" marL="0">
              <a:buNone/>
            </a:pPr>
            <a:endParaRPr lang="en-US" sz="1300" dirty="0"/>
          </a:p>
        </p:txBody>
      </p:sp>
      <p:sp>
        <p:nvSpPr>
          <p:cNvPr id="3" name="Text 0"/>
          <p:cNvSpPr/>
          <p:nvPr>
            <p:ph idx="101" type="title" hasCustomPrompt="1"/>
          </p:nvPr>
        </p:nvSpPr>
        <p:spPr>
          <a:xfrm>
            <a:off x="777240" y="914400"/>
            <a:ext cx="10637215" cy="1234440"/>
          </a:xfrm>
          <a:prstGeom prst="rect">
            <a:avLst/>
          </a:prstGeom>
          <a:noFill/>
          <a:ln/>
        </p:spPr>
        <p:txBody>
          <a:bodyPr wrap="square" rtlCol="0"/>
          <a:lstStyle>
            <a:lvl1pPr algn="l" indent="0" marL="0">
              <a:buNone/>
              <a:defRPr lang="en-US" sz="4000" b="1" dirty="0">
                <a:solidFill>
                  <a:srgbClr val="F4F1EA"/>
                </a:solidFill>
                <a:latin typeface="Georgia" pitchFamily="34" charset="0"/>
                <a:ea typeface="Georgia" pitchFamily="34" charset="-122"/>
                <a:cs typeface="Georgia" pitchFamily="34" charset="-120"/>
              </a:defRPr>
            </a:lvl1pPr>
          </a:lstStyle>
          <a:p>
            <a:pPr algn="l" indent="0" marL="0">
              <a:buNone/>
            </a:pPr>
            <a:endParaRPr lang="en-US" sz="4000" dirty="0"/>
          </a:p>
        </p:txBody>
      </p:sp>
      <p:sp>
        <p:nvSpPr>
          <p:cNvPr id="4" name="Text 0"/>
          <p:cNvSpPr/>
          <p:nvPr>
            <p:ph idx="102" type="body" hasCustomPrompt="1"/>
          </p:nvPr>
        </p:nvSpPr>
        <p:spPr>
          <a:xfrm>
            <a:off x="777240" y="6263640"/>
            <a:ext cx="10637215" cy="320040"/>
          </a:xfrm>
          <a:prstGeom prst="rect">
            <a:avLst/>
          </a:prstGeom>
          <a:noFill/>
          <a:ln/>
        </p:spPr>
        <p:txBody>
          <a:bodyPr wrap="square" rtlCol="0"/>
          <a:lstStyle>
            <a:lvl1pPr algn="l" indent="0" marL="0">
              <a:buNone/>
              <a:defRPr lang="en-US" sz="1100" dirty="0">
                <a:solidFill>
                  <a:srgbClr val="9AA8C0"/>
                </a:solidFill>
              </a:defRPr>
            </a:lvl1pPr>
          </a:lstStyle>
          <a:p>
            <a:pPr algn="l" indent="0" marL="0">
              <a:buNone/>
            </a:pP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RO">
    <p:bg>
      <p:bgPr>
        <a:solidFill>
          <a:srgbClr val="F7F5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10637215" cy="914400"/>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3" name="Text 0"/>
          <p:cNvSpPr/>
          <p:nvPr>
            <p:ph idx="101" type="body" hasCustomPrompt="1"/>
          </p:nvPr>
        </p:nvSpPr>
        <p:spPr>
          <a:xfrm>
            <a:off x="777240" y="6309360"/>
            <a:ext cx="10088575" cy="320040"/>
          </a:xfrm>
          <a:prstGeom prst="rect">
            <a:avLst/>
          </a:prstGeom>
          <a:noFill/>
          <a:ln/>
        </p:spPr>
        <p:txBody>
          <a:bodyPr wrap="square" rtlCol="0"/>
          <a:lstStyle>
            <a:lvl1pPr algn="l" indent="0" marL="0">
              <a:buNone/>
              <a:defRPr lang="en-US" sz="1100" dirty="0">
                <a:solidFill>
                  <a:srgbClr val="6B6860"/>
                </a:solidFill>
              </a:defRPr>
            </a:lvl1pPr>
          </a:lstStyle>
          <a:p>
            <a:pPr algn="l" indent="0" marL="0">
              <a:buNone/>
            </a:pPr>
            <a:endParaRPr lang="en-US" sz="1100" dirty="0"/>
          </a:p>
        </p:txBody>
      </p:sp>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ARO_FRIO">
    <p:bg>
      <p:bgPr>
        <a:solidFill>
          <a:srgbClr val="EEF1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10637215" cy="914400"/>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3" name="Text 0"/>
          <p:cNvSpPr/>
          <p:nvPr>
            <p:ph idx="101" type="body" hasCustomPrompt="1"/>
          </p:nvPr>
        </p:nvSpPr>
        <p:spPr>
          <a:xfrm>
            <a:off x="777240" y="6309360"/>
            <a:ext cx="10088575" cy="320040"/>
          </a:xfrm>
          <a:prstGeom prst="rect">
            <a:avLst/>
          </a:prstGeom>
          <a:noFill/>
          <a:ln/>
        </p:spPr>
        <p:txBody>
          <a:bodyPr wrap="square" rtlCol="0"/>
          <a:lstStyle>
            <a:lvl1pPr algn="l" indent="0" marL="0">
              <a:buNone/>
              <a:defRPr lang="en-US" sz="1100" dirty="0">
                <a:solidFill>
                  <a:srgbClr val="6B6860"/>
                </a:solidFill>
              </a:defRPr>
            </a:lvl1pPr>
          </a:lstStyle>
          <a:p>
            <a:pPr algn="l" indent="0" marL="0">
              <a:buNone/>
            </a:pPr>
            <a:endParaRPr lang="en-US" sz="1100" dirty="0"/>
          </a:p>
        </p:txBody>
      </p:sp>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77240" y="548640"/>
            <a:ext cx="10637215" cy="365760"/>
          </a:xfrm>
          <a:prstGeom prst="rect">
            <a:avLst/>
          </a:prstGeom>
          <a:noFill/>
          <a:ln/>
        </p:spPr>
        <p:txBody>
          <a:bodyPr wrap="square" lIns="0" tIns="0" rIns="0" bIns="0" rtlCol="0"/>
          <a:lstStyle/>
          <a:p>
            <a:pPr algn="l" indent="0" marL="0">
              <a:buNone/>
            </a:pPr>
            <a:r>
              <a:rPr lang="en-US" sz="1300" b="1" spc="300" kern="0" dirty="0">
                <a:solidFill>
                  <a:srgbClr val="F29B6E"/>
                </a:solidFill>
              </a:rPr>
              <a:t>MULTITIENDA DEL SUR · PREGUNTA 1 · GRUPO 3</a:t>
            </a:r>
            <a:endParaRPr lang="en-US" sz="1300" dirty="0"/>
          </a:p>
        </p:txBody>
      </p:sp>
      <p:sp>
        <p:nvSpPr>
          <p:cNvPr id="3" name="Text 0"/>
          <p:cNvSpPr/>
          <p:nvPr>
            <p:ph idx="101" type="title" hasCustomPrompt="1"/>
          </p:nvPr>
        </p:nvSpPr>
        <p:spPr>
          <a:xfrm>
            <a:off x="777240" y="914400"/>
            <a:ext cx="10637215" cy="1234440"/>
          </a:xfrm>
          <a:prstGeom prst="rect">
            <a:avLst/>
          </a:prstGeom>
          <a:noFill/>
          <a:ln/>
        </p:spPr>
        <p:txBody>
          <a:bodyPr wrap="square" lIns="0" tIns="0" rIns="0" bIns="0" rtlCol="0" anchor="t"/>
          <a:lstStyle/>
          <a:p>
            <a:pPr algn="l" indent="0" marL="0">
              <a:buNone/>
            </a:pPr>
            <a:r>
              <a:rPr lang="en-US" sz="4000" b="1" dirty="0">
                <a:solidFill>
                  <a:srgbClr val="F4F1EA"/>
                </a:solidFill>
                <a:latin typeface="Georgia" pitchFamily="34" charset="0"/>
                <a:ea typeface="Georgia" pitchFamily="34" charset="-122"/>
                <a:cs typeface="Georgia" pitchFamily="34" charset="-120"/>
              </a:rPr>
              <a:t>La cadena está reponiendo clientes, no reteniéndolos.</a:t>
            </a:r>
            <a:endParaRPr lang="en-US" sz="4000" dirty="0"/>
          </a:p>
        </p:txBody>
      </p:sp>
      <p:sp>
        <p:nvSpPr>
          <p:cNvPr id="4" name="linea-dato-1"/>
          <p:cNvSpPr/>
          <p:nvPr/>
        </p:nvSpPr>
        <p:spPr>
          <a:xfrm>
            <a:off x="777240" y="2423160"/>
            <a:ext cx="5135728" cy="0"/>
          </a:xfrm>
          <a:prstGeom prst="line">
            <a:avLst/>
          </a:prstGeom>
          <a:noFill/>
          <a:ln w="38100">
            <a:solidFill>
              <a:srgbClr val="5B9BE8"/>
            </a:solidFill>
            <a:prstDash val="solid"/>
          </a:ln>
        </p:spPr>
      </p:sp>
      <p:sp>
        <p:nvSpPr>
          <p:cNvPr id="5" name="dato-1"/>
          <p:cNvSpPr txBox="1"/>
          <p:nvPr/>
        </p:nvSpPr>
        <p:spPr>
          <a:xfrm>
            <a:off x="777240" y="2560320"/>
            <a:ext cx="5135728" cy="1051560"/>
          </a:xfrm>
          <a:prstGeom prst="rect">
            <a:avLst/>
          </a:prstGeom>
          <a:noFill/>
          <a:ln/>
        </p:spPr>
        <p:txBody>
          <a:bodyPr wrap="square" lIns="0" tIns="0" rIns="0" bIns="0" rtlCol="0" anchor="ctr"/>
          <a:lstStyle/>
          <a:p>
            <a:pPr indent="0" marL="0">
              <a:buNone/>
            </a:pPr>
            <a:r>
              <a:rPr lang="en-US" sz="6600" b="1" dirty="0">
                <a:solidFill>
                  <a:srgbClr val="7FB2F0"/>
                </a:solidFill>
                <a:latin typeface="Georgia" pitchFamily="34" charset="0"/>
                <a:ea typeface="Georgia" pitchFamily="34" charset="-122"/>
                <a:cs typeface="Georgia" pitchFamily="34" charset="-120"/>
              </a:rPr>
              <a:t>41,5%</a:t>
            </a:r>
            <a:endParaRPr lang="en-US" sz="6600" dirty="0"/>
          </a:p>
        </p:txBody>
      </p:sp>
      <p:sp>
        <p:nvSpPr>
          <p:cNvPr id="6" name="dato-1-texto"/>
          <p:cNvSpPr txBox="1"/>
          <p:nvPr/>
        </p:nvSpPr>
        <p:spPr>
          <a:xfrm>
            <a:off x="777240" y="3611880"/>
            <a:ext cx="4952848" cy="685800"/>
          </a:xfrm>
          <a:prstGeom prst="rect">
            <a:avLst/>
          </a:prstGeom>
          <a:noFill/>
          <a:ln/>
        </p:spPr>
        <p:txBody>
          <a:bodyPr wrap="square" lIns="0" tIns="0" rIns="0" bIns="0" rtlCol="0" anchor="t"/>
          <a:lstStyle/>
          <a:p>
            <a:pPr indent="0" marL="0">
              <a:buNone/>
            </a:pPr>
            <a:r>
              <a:rPr lang="en-US" sz="1700" dirty="0">
                <a:solidFill>
                  <a:srgbClr val="C9D3E3"/>
                </a:solidFill>
                <a:latin typeface="Arial" pitchFamily="34" charset="0"/>
                <a:ea typeface="Arial" pitchFamily="34" charset="-122"/>
                <a:cs typeface="Arial" pitchFamily="34" charset="-120"/>
              </a:rPr>
              <a:t>de los clientes activos en junio seguía activo en diciembre</a:t>
            </a:r>
            <a:endParaRPr lang="en-US" sz="1700" dirty="0"/>
          </a:p>
        </p:txBody>
      </p:sp>
      <p:sp>
        <p:nvSpPr>
          <p:cNvPr id="7" name="linea-dato-2"/>
          <p:cNvSpPr/>
          <p:nvPr/>
        </p:nvSpPr>
        <p:spPr>
          <a:xfrm>
            <a:off x="6278728" y="2423160"/>
            <a:ext cx="5135728" cy="0"/>
          </a:xfrm>
          <a:prstGeom prst="line">
            <a:avLst/>
          </a:prstGeom>
          <a:noFill/>
          <a:ln w="38100">
            <a:solidFill>
              <a:srgbClr val="F29B6E"/>
            </a:solidFill>
            <a:prstDash val="solid"/>
          </a:ln>
        </p:spPr>
      </p:sp>
      <p:sp>
        <p:nvSpPr>
          <p:cNvPr id="8" name="dato-2"/>
          <p:cNvSpPr txBox="1"/>
          <p:nvPr/>
        </p:nvSpPr>
        <p:spPr>
          <a:xfrm>
            <a:off x="6278728" y="2560320"/>
            <a:ext cx="5135728" cy="1051560"/>
          </a:xfrm>
          <a:prstGeom prst="rect">
            <a:avLst/>
          </a:prstGeom>
          <a:noFill/>
          <a:ln/>
        </p:spPr>
        <p:txBody>
          <a:bodyPr wrap="square" lIns="0" tIns="0" rIns="0" bIns="0" rtlCol="0" anchor="ctr"/>
          <a:lstStyle/>
          <a:p>
            <a:pPr indent="0" marL="0">
              <a:buNone/>
            </a:pPr>
            <a:r>
              <a:rPr lang="en-US" sz="6600" b="1" dirty="0">
                <a:solidFill>
                  <a:srgbClr val="F29B6E"/>
                </a:solidFill>
                <a:latin typeface="Georgia" pitchFamily="34" charset="0"/>
                <a:ea typeface="Georgia" pitchFamily="34" charset="-122"/>
                <a:cs typeface="Georgia" pitchFamily="34" charset="-120"/>
              </a:rPr>
              <a:t>69%</a:t>
            </a:r>
            <a:endParaRPr lang="en-US" sz="6600" dirty="0"/>
          </a:p>
        </p:txBody>
      </p:sp>
      <p:sp>
        <p:nvSpPr>
          <p:cNvPr id="9" name="dato-2-texto"/>
          <p:cNvSpPr txBox="1"/>
          <p:nvPr/>
        </p:nvSpPr>
        <p:spPr>
          <a:xfrm>
            <a:off x="6278728" y="3611880"/>
            <a:ext cx="4952848" cy="685800"/>
          </a:xfrm>
          <a:prstGeom prst="rect">
            <a:avLst/>
          </a:prstGeom>
          <a:noFill/>
          <a:ln/>
        </p:spPr>
        <p:txBody>
          <a:bodyPr wrap="square" lIns="0" tIns="0" rIns="0" bIns="0" rtlCol="0" anchor="t"/>
          <a:lstStyle/>
          <a:p>
            <a:pPr indent="0" marL="0">
              <a:buNone/>
            </a:pPr>
            <a:r>
              <a:rPr lang="en-US" sz="1700" dirty="0">
                <a:solidFill>
                  <a:srgbClr val="C9D3E3"/>
                </a:solidFill>
                <a:latin typeface="Arial" pitchFamily="34" charset="0"/>
                <a:ea typeface="Arial" pitchFamily="34" charset="-122"/>
                <a:cs typeface="Arial" pitchFamily="34" charset="-120"/>
              </a:rPr>
              <a:t>de los activos en diciembre son reemplazos: no compraban en junio</a:t>
            </a:r>
            <a:endParaRPr lang="en-US" sz="1700" dirty="0"/>
          </a:p>
        </p:txBody>
      </p:sp>
      <p:sp>
        <p:nvSpPr>
          <p:cNvPr id="10" name="caja-recomendacion"/>
          <p:cNvSpPr/>
          <p:nvPr/>
        </p:nvSpPr>
        <p:spPr>
          <a:xfrm>
            <a:off x="777240" y="4572000"/>
            <a:ext cx="10637215" cy="1051560"/>
          </a:xfrm>
          <a:prstGeom prst="roundRect">
            <a:avLst>
              <a:gd name="adj" fmla="val 6957"/>
            </a:avLst>
          </a:prstGeom>
          <a:solidFill>
            <a:srgbClr val="1E2F52"/>
          </a:solidFill>
          <a:ln/>
        </p:spPr>
      </p:sp>
      <p:sp>
        <p:nvSpPr>
          <p:cNvPr id="11" name="recomendacion"/>
          <p:cNvSpPr txBox="1"/>
          <p:nvPr/>
        </p:nvSpPr>
        <p:spPr>
          <a:xfrm>
            <a:off x="1051560" y="4572000"/>
            <a:ext cx="10088575" cy="1051560"/>
          </a:xfrm>
          <a:prstGeom prst="rect">
            <a:avLst/>
          </a:prstGeom>
          <a:noFill/>
          <a:ln/>
        </p:spPr>
        <p:txBody>
          <a:bodyPr wrap="square" lIns="0" tIns="0" rIns="0" bIns="0" rtlCol="0" anchor="ctr"/>
          <a:lstStyle/>
          <a:p>
            <a:pPr indent="0" marL="0">
              <a:buNone/>
            </a:pPr>
            <a:r>
              <a:rPr lang="en-US" sz="1900" b="1" dirty="0">
                <a:solidFill>
                  <a:srgbClr val="F4F1EA"/>
                </a:solidFill>
                <a:latin typeface="Arial" pitchFamily="34" charset="0"/>
                <a:ea typeface="Arial" pitchFamily="34" charset="-122"/>
                <a:cs typeface="Arial" pitchFamily="34" charset="-120"/>
              </a:rPr>
              <a:t>Recomendamos </a:t>
            </a:r>
            <a:pPr indent="0" marL="0">
              <a:buNone/>
            </a:pPr>
            <a:r>
              <a:rPr lang="en-US" sz="1900" dirty="0">
                <a:solidFill>
                  <a:srgbClr val="F4F1EA"/>
                </a:solidFill>
                <a:latin typeface="Arial" pitchFamily="34" charset="0"/>
                <a:ea typeface="Arial" pitchFamily="34" charset="-122"/>
                <a:cs typeface="Arial" pitchFamily="34" charset="-120"/>
              </a:rPr>
              <a:t>fijar una definición oficial de cliente activo y retener antes de captar: </a:t>
            </a:r>
            <a:pPr indent="0" marL="0">
              <a:buNone/>
            </a:pPr>
            <a:r>
              <a:rPr lang="en-US" sz="1900" b="1" dirty="0">
                <a:solidFill>
                  <a:srgbClr val="F29B6E"/>
                </a:solidFill>
                <a:latin typeface="Arial" pitchFamily="34" charset="0"/>
                <a:ea typeface="Arial" pitchFamily="34" charset="-122"/>
                <a:cs typeface="Arial" pitchFamily="34" charset="-120"/>
              </a:rPr>
              <a:t>cada 10 puntos de retención valen ≈ $6,8 millones de venta al año.</a:t>
            </a:r>
            <a:endParaRPr lang="en-US" sz="1900" dirty="0"/>
          </a:p>
        </p:txBody>
      </p:sp>
      <p:sp>
        <p:nvSpPr>
          <p:cNvPr id="12" name="Text 0"/>
          <p:cNvSpPr/>
          <p:nvPr>
            <p:ph idx="102" type="body" hasCustomPrompt="1"/>
          </p:nvPr>
        </p:nvSpPr>
        <p:spPr>
          <a:xfrm>
            <a:off x="777240" y="6263640"/>
            <a:ext cx="10637215" cy="320040"/>
          </a:xfrm>
          <a:prstGeom prst="rect">
            <a:avLst/>
          </a:prstGeom>
          <a:noFill/>
          <a:ln/>
        </p:spPr>
        <p:txBody>
          <a:bodyPr wrap="square" lIns="0" tIns="0" rIns="0" bIns="0" rtlCol="0"/>
          <a:lstStyle/>
          <a:p>
            <a:pPr algn="l" indent="0" marL="0">
              <a:buNone/>
            </a:pPr>
            <a:r>
              <a:rPr lang="en-US" sz="1100" dirty="0">
                <a:solidFill>
                  <a:srgbClr val="9AA8C0"/>
                </a:solidFill>
              </a:rPr>
              <a:t>Cliente activo = compró en los últimos 90 días · Con 180 días: 58,6% y 59%, la conclusión se mantiene · Fuente: POS 2025, clientes identificados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10637215" cy="914400"/>
          </a:xfrm>
          <a:prstGeom prst="rect">
            <a:avLst/>
          </a:prstGeom>
          <a:noFill/>
          <a:ln/>
        </p:spPr>
        <p:txBody>
          <a:bodyPr wrap="square" lIns="0" tIns="0" rIns="0" bIns="0" rtlCol="0" anchor="t"/>
          <a:lstStyle/>
          <a:p>
            <a:pPr algn="l" indent="0" marL="0">
              <a:buNone/>
            </a:pPr>
            <a:r>
              <a:rPr lang="en-US" sz="3000" b="1" dirty="0">
                <a:solidFill>
                  <a:srgbClr val="14213D"/>
                </a:solidFill>
                <a:latin typeface="Georgia" pitchFamily="34" charset="0"/>
                <a:ea typeface="Georgia" pitchFamily="34" charset="-122"/>
                <a:cs typeface="Georgia" pitchFamily="34" charset="-120"/>
              </a:rPr>
              <a:t>De junio a diciembre, 7 de cada 10 clientes activos pasaron a ser reemplazos</a:t>
            </a:r>
            <a:endParaRPr lang="en-US" sz="3000" dirty="0"/>
          </a:p>
        </p:txBody>
      </p:sp>
      <p:sp>
        <p:nvSpPr>
          <p:cNvPr id="3" name="marco-g1"/>
          <p:cNvSpPr/>
          <p:nvPr/>
        </p:nvSpPr>
        <p:spPr>
          <a:xfrm>
            <a:off x="777240" y="1554480"/>
            <a:ext cx="6766560" cy="4526280"/>
          </a:xfrm>
          <a:prstGeom prst="roundRect">
            <a:avLst>
              <a:gd name="adj" fmla="val 1616"/>
            </a:avLst>
          </a:prstGeom>
          <a:solidFill>
            <a:srgbClr val="FFFFFF"/>
          </a:solidFill>
          <a:ln w="9525">
            <a:solidFill>
              <a:srgbClr val="E2DED5"/>
            </a:solidFill>
            <a:prstDash val="solid"/>
          </a:ln>
        </p:spPr>
      </p:sp>
      <p:graphicFrame>
        <p:nvGraphicFramePr>
          <p:cNvPr id="4" name="grafico-base-jun-dic" descr=""/>
          <p:cNvGraphicFramePr/>
          <p:nvPr/>
        </p:nvGraphicFramePr>
        <p:xfrm>
          <a:off x="914400" y="1645920"/>
          <a:ext cx="6492240" cy="4343400"/>
        </p:xfrm>
        <a:graphic xmlns:a="http://schemas.openxmlformats.org/drawingml/2006/main">
          <a:graphicData uri="http://schemas.openxmlformats.org/drawingml/2006/chart">
            <c:chart xmlns:c="http://schemas.openxmlformats.org/drawingml/2006/chart" r:id="rId1"/>
          </a:graphicData>
        </a:graphic>
      </p:graphicFrame>
      <p:sp>
        <p:nvSpPr>
          <p:cNvPr id="5" name="barra-dato-1"/>
          <p:cNvSpPr/>
          <p:nvPr/>
        </p:nvSpPr>
        <p:spPr>
          <a:xfrm>
            <a:off x="7863840" y="1783080"/>
            <a:ext cx="64008" cy="1143000"/>
          </a:xfrm>
          <a:prstGeom prst="rect">
            <a:avLst/>
          </a:prstGeom>
          <a:solidFill>
            <a:srgbClr val="2A78D6"/>
          </a:solidFill>
          <a:ln/>
        </p:spPr>
      </p:sp>
      <p:sp>
        <p:nvSpPr>
          <p:cNvPr id="6" name="dato-1"/>
          <p:cNvSpPr txBox="1"/>
          <p:nvPr/>
        </p:nvSpPr>
        <p:spPr>
          <a:xfrm>
            <a:off x="8138160" y="1783080"/>
            <a:ext cx="3200400" cy="548640"/>
          </a:xfrm>
          <a:prstGeom prst="rect">
            <a:avLst/>
          </a:prstGeom>
          <a:noFill/>
          <a:ln/>
        </p:spPr>
        <p:txBody>
          <a:bodyPr wrap="square" lIns="0" tIns="0" rIns="0" bIns="0" rtlCol="0" anchor="ctr"/>
          <a:lstStyle/>
          <a:p>
            <a:pPr indent="0" marL="0">
              <a:buNone/>
            </a:pPr>
            <a:r>
              <a:rPr lang="en-US" sz="3200" b="1" dirty="0">
                <a:solidFill>
                  <a:srgbClr val="14213D"/>
                </a:solidFill>
                <a:latin typeface="Georgia" pitchFamily="34" charset="0"/>
                <a:ea typeface="Georgia" pitchFamily="34" charset="-122"/>
                <a:cs typeface="Georgia" pitchFamily="34" charset="-120"/>
              </a:rPr>
              <a:t>202</a:t>
            </a:r>
            <a:endParaRPr lang="en-US" sz="3200" dirty="0"/>
          </a:p>
        </p:txBody>
      </p:sp>
      <p:sp>
        <p:nvSpPr>
          <p:cNvPr id="7" name="dato-1-texto"/>
          <p:cNvSpPr txBox="1"/>
          <p:nvPr/>
        </p:nvSpPr>
        <p:spPr>
          <a:xfrm>
            <a:off x="8138160" y="2331720"/>
            <a:ext cx="3291840" cy="594360"/>
          </a:xfrm>
          <a:prstGeom prst="rect">
            <a:avLst/>
          </a:prstGeom>
          <a:noFill/>
          <a:ln/>
        </p:spPr>
        <p:txBody>
          <a:bodyPr wrap="square" lIns="0" tIns="0" rIns="0" bIns="0" rtlCol="0" anchor="t"/>
          <a:lstStyle/>
          <a:p>
            <a:pPr indent="0" marL="0">
              <a:buNone/>
            </a:pPr>
            <a:r>
              <a:rPr lang="en-US" sz="1500" dirty="0">
                <a:solidFill>
                  <a:srgbClr val="4A5568"/>
                </a:solidFill>
                <a:latin typeface="Arial" pitchFamily="34" charset="0"/>
                <a:ea typeface="Arial" pitchFamily="34" charset="-122"/>
                <a:cs typeface="Arial" pitchFamily="34" charset="-120"/>
              </a:rPr>
              <a:t>retenidos: estaban en junio y siguen en diciembre</a:t>
            </a:r>
            <a:endParaRPr lang="en-US" sz="1500" dirty="0"/>
          </a:p>
        </p:txBody>
      </p:sp>
      <p:sp>
        <p:nvSpPr>
          <p:cNvPr id="8" name="barra-dato-2"/>
          <p:cNvSpPr/>
          <p:nvPr/>
        </p:nvSpPr>
        <p:spPr>
          <a:xfrm>
            <a:off x="7863840" y="3200400"/>
            <a:ext cx="64008" cy="1143000"/>
          </a:xfrm>
          <a:prstGeom prst="rect">
            <a:avLst/>
          </a:prstGeom>
          <a:solidFill>
            <a:srgbClr val="9A978E"/>
          </a:solidFill>
          <a:ln/>
        </p:spPr>
      </p:sp>
      <p:sp>
        <p:nvSpPr>
          <p:cNvPr id="9" name="dato-2"/>
          <p:cNvSpPr txBox="1"/>
          <p:nvPr/>
        </p:nvSpPr>
        <p:spPr>
          <a:xfrm>
            <a:off x="8138160" y="3200400"/>
            <a:ext cx="3200400" cy="548640"/>
          </a:xfrm>
          <a:prstGeom prst="rect">
            <a:avLst/>
          </a:prstGeom>
          <a:noFill/>
          <a:ln/>
        </p:spPr>
        <p:txBody>
          <a:bodyPr wrap="square" lIns="0" tIns="0" rIns="0" bIns="0" rtlCol="0" anchor="ctr"/>
          <a:lstStyle/>
          <a:p>
            <a:pPr indent="0" marL="0">
              <a:buNone/>
            </a:pPr>
            <a:r>
              <a:rPr lang="en-US" sz="3200" b="1" dirty="0">
                <a:solidFill>
                  <a:srgbClr val="14213D"/>
                </a:solidFill>
                <a:latin typeface="Georgia" pitchFamily="34" charset="0"/>
                <a:ea typeface="Georgia" pitchFamily="34" charset="-122"/>
                <a:cs typeface="Georgia" pitchFamily="34" charset="-120"/>
              </a:rPr>
              <a:t>285</a:t>
            </a:r>
            <a:endParaRPr lang="en-US" sz="3200" dirty="0"/>
          </a:p>
        </p:txBody>
      </p:sp>
      <p:sp>
        <p:nvSpPr>
          <p:cNvPr id="10" name="dato-2-texto"/>
          <p:cNvSpPr txBox="1"/>
          <p:nvPr/>
        </p:nvSpPr>
        <p:spPr>
          <a:xfrm>
            <a:off x="8138160" y="3749040"/>
            <a:ext cx="3291840" cy="594360"/>
          </a:xfrm>
          <a:prstGeom prst="rect">
            <a:avLst/>
          </a:prstGeom>
          <a:noFill/>
          <a:ln/>
        </p:spPr>
        <p:txBody>
          <a:bodyPr wrap="square" lIns="0" tIns="0" rIns="0" bIns="0" rtlCol="0" anchor="t"/>
          <a:lstStyle/>
          <a:p>
            <a:pPr indent="0" marL="0">
              <a:buNone/>
            </a:pPr>
            <a:r>
              <a:rPr lang="en-US" sz="1500" dirty="0">
                <a:solidFill>
                  <a:srgbClr val="4A5568"/>
                </a:solidFill>
                <a:latin typeface="Arial" pitchFamily="34" charset="0"/>
                <a:ea typeface="Arial" pitchFamily="34" charset="-122"/>
                <a:cs typeface="Arial" pitchFamily="34" charset="-120"/>
              </a:rPr>
              <a:t>perdidos: el 59% de la base de junio</a:t>
            </a:r>
            <a:endParaRPr lang="en-US" sz="1500" dirty="0"/>
          </a:p>
        </p:txBody>
      </p:sp>
      <p:sp>
        <p:nvSpPr>
          <p:cNvPr id="11" name="barra-dato-3"/>
          <p:cNvSpPr/>
          <p:nvPr/>
        </p:nvSpPr>
        <p:spPr>
          <a:xfrm>
            <a:off x="7863840" y="4617720"/>
            <a:ext cx="64008" cy="1143000"/>
          </a:xfrm>
          <a:prstGeom prst="rect">
            <a:avLst/>
          </a:prstGeom>
          <a:solidFill>
            <a:srgbClr val="EB6834"/>
          </a:solidFill>
          <a:ln/>
        </p:spPr>
      </p:sp>
      <p:sp>
        <p:nvSpPr>
          <p:cNvPr id="12" name="dato-3"/>
          <p:cNvSpPr txBox="1"/>
          <p:nvPr/>
        </p:nvSpPr>
        <p:spPr>
          <a:xfrm>
            <a:off x="8138160" y="4617720"/>
            <a:ext cx="3200400" cy="548640"/>
          </a:xfrm>
          <a:prstGeom prst="rect">
            <a:avLst/>
          </a:prstGeom>
          <a:noFill/>
          <a:ln/>
        </p:spPr>
        <p:txBody>
          <a:bodyPr wrap="square" lIns="0" tIns="0" rIns="0" bIns="0" rtlCol="0" anchor="ctr"/>
          <a:lstStyle/>
          <a:p>
            <a:pPr indent="0" marL="0">
              <a:buNone/>
            </a:pPr>
            <a:r>
              <a:rPr lang="en-US" sz="3200" b="1" dirty="0">
                <a:solidFill>
                  <a:srgbClr val="14213D"/>
                </a:solidFill>
                <a:latin typeface="Georgia" pitchFamily="34" charset="0"/>
                <a:ea typeface="Georgia" pitchFamily="34" charset="-122"/>
                <a:cs typeface="Georgia" pitchFamily="34" charset="-120"/>
              </a:rPr>
              <a:t>459</a:t>
            </a:r>
            <a:endParaRPr lang="en-US" sz="3200" dirty="0"/>
          </a:p>
        </p:txBody>
      </p:sp>
      <p:sp>
        <p:nvSpPr>
          <p:cNvPr id="13" name="dato-3-texto"/>
          <p:cNvSpPr txBox="1"/>
          <p:nvPr/>
        </p:nvSpPr>
        <p:spPr>
          <a:xfrm>
            <a:off x="8138160" y="5166360"/>
            <a:ext cx="3291840" cy="594360"/>
          </a:xfrm>
          <a:prstGeom prst="rect">
            <a:avLst/>
          </a:prstGeom>
          <a:noFill/>
          <a:ln/>
        </p:spPr>
        <p:txBody>
          <a:bodyPr wrap="square" lIns="0" tIns="0" rIns="0" bIns="0" rtlCol="0" anchor="t"/>
          <a:lstStyle/>
          <a:p>
            <a:pPr indent="0" marL="0">
              <a:buNone/>
            </a:pPr>
            <a:r>
              <a:rPr lang="en-US" sz="1500" dirty="0">
                <a:solidFill>
                  <a:srgbClr val="4A5568"/>
                </a:solidFill>
                <a:latin typeface="Arial" pitchFamily="34" charset="0"/>
                <a:ea typeface="Arial" pitchFamily="34" charset="-122"/>
                <a:cs typeface="Arial" pitchFamily="34" charset="-120"/>
              </a:rPr>
              <a:t>ganados: 415 nuevos y 44 que volvieron</a:t>
            </a:r>
            <a:endParaRPr lang="en-US" sz="1500" dirty="0"/>
          </a:p>
        </p:txBody>
      </p:sp>
      <p:sp>
        <p:nvSpPr>
          <p:cNvPr id="14" name="Text 0"/>
          <p:cNvSpPr/>
          <p:nvPr>
            <p:ph idx="101" type="body" hasCustomPrompt="1"/>
          </p:nvPr>
        </p:nvSpPr>
        <p:spPr>
          <a:xfrm>
            <a:off x="777240" y="6309360"/>
            <a:ext cx="10088575" cy="320040"/>
          </a:xfrm>
          <a:prstGeom prst="rect">
            <a:avLst/>
          </a:prstGeom>
          <a:noFill/>
          <a:ln/>
        </p:spPr>
        <p:txBody>
          <a:bodyPr wrap="square" lIns="0" tIns="0" rIns="0" bIns="0" rtlCol="0"/>
          <a:lstStyle/>
          <a:p>
            <a:pPr algn="l" indent="0" marL="0">
              <a:buNone/>
            </a:pPr>
            <a:r>
              <a:rPr lang="en-US" sz="1100" dirty="0">
                <a:solidFill>
                  <a:srgbClr val="6B6860"/>
                </a:solidFill>
              </a:rPr>
              <a:t>Activo = al menos una compra con monto positivo en los 90 días previos al corte · Fuente: POS Multitienda del Sur, 2025, clientes identificados · Elaboración Grupo 3</a:t>
            </a:r>
            <a:endParaRPr lang="en-US" sz="1100" dirty="0"/>
          </a:p>
        </p:txBody>
      </p:sp>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10637215" cy="914400"/>
          </a:xfrm>
          <a:prstGeom prst="rect">
            <a:avLst/>
          </a:prstGeom>
          <a:noFill/>
          <a:ln/>
        </p:spPr>
        <p:txBody>
          <a:bodyPr wrap="square" lIns="0" tIns="0" rIns="0" bIns="0" rtlCol="0" anchor="t"/>
          <a:lstStyle/>
          <a:p>
            <a:pPr algn="l" indent="0" marL="0">
              <a:buNone/>
            </a:pPr>
            <a:r>
              <a:rPr lang="en-US" sz="3000" b="1" dirty="0">
                <a:solidFill>
                  <a:srgbClr val="14213D"/>
                </a:solidFill>
                <a:latin typeface="Georgia" pitchFamily="34" charset="0"/>
                <a:ea typeface="Georgia" pitchFamily="34" charset="-122"/>
                <a:cs typeface="Georgia" pitchFamily="34" charset="-120"/>
              </a:rPr>
              <a:t>La base antigua se vacía y los clientes que la reemplazan vuelven cada vez menos</a:t>
            </a:r>
            <a:endParaRPr lang="en-US" sz="3000" dirty="0"/>
          </a:p>
        </p:txBody>
      </p:sp>
      <p:sp>
        <p:nvSpPr>
          <p:cNvPr id="3" name="marco-g3"/>
          <p:cNvSpPr/>
          <p:nvPr/>
        </p:nvSpPr>
        <p:spPr>
          <a:xfrm>
            <a:off x="777240" y="1554480"/>
            <a:ext cx="5158588" cy="3429000"/>
          </a:xfrm>
          <a:prstGeom prst="roundRect">
            <a:avLst>
              <a:gd name="adj" fmla="val 2133"/>
            </a:avLst>
          </a:prstGeom>
          <a:solidFill>
            <a:srgbClr val="FFFFFF"/>
          </a:solidFill>
          <a:ln w="9525">
            <a:solidFill>
              <a:srgbClr val="E2DED5"/>
            </a:solidFill>
            <a:prstDash val="solid"/>
          </a:ln>
        </p:spPr>
      </p:sp>
      <p:graphicFrame>
        <p:nvGraphicFramePr>
          <p:cNvPr id="4" name="grafico-clientes-por-mes" descr=""/>
          <p:cNvGraphicFramePr/>
          <p:nvPr/>
        </p:nvGraphicFramePr>
        <p:xfrm>
          <a:off x="868680" y="1645920"/>
          <a:ext cx="4975708" cy="3246120"/>
        </p:xfrm>
        <a:graphic xmlns:a="http://schemas.openxmlformats.org/drawingml/2006/main">
          <a:graphicData uri="http://schemas.openxmlformats.org/drawingml/2006/chart">
            <c:chart xmlns:c="http://schemas.openxmlformats.org/drawingml/2006/chart" r:id="rId1"/>
          </a:graphicData>
        </a:graphic>
      </p:graphicFrame>
      <p:sp>
        <p:nvSpPr>
          <p:cNvPr id="5" name="marco-g4"/>
          <p:cNvSpPr/>
          <p:nvPr/>
        </p:nvSpPr>
        <p:spPr>
          <a:xfrm>
            <a:off x="6255868" y="1554480"/>
            <a:ext cx="5158588" cy="3429000"/>
          </a:xfrm>
          <a:prstGeom prst="roundRect">
            <a:avLst>
              <a:gd name="adj" fmla="val 2133"/>
            </a:avLst>
          </a:prstGeom>
          <a:solidFill>
            <a:srgbClr val="FFFFFF"/>
          </a:solidFill>
          <a:ln w="9525">
            <a:solidFill>
              <a:srgbClr val="E2DED5"/>
            </a:solidFill>
            <a:prstDash val="solid"/>
          </a:ln>
        </p:spPr>
      </p:sp>
      <p:graphicFrame>
        <p:nvGraphicFramePr>
          <p:cNvPr id="6" name="grafico-recompra-nuevos" descr=""/>
          <p:cNvGraphicFramePr/>
          <p:nvPr/>
        </p:nvGraphicFramePr>
        <p:xfrm>
          <a:off x="6347308" y="1645920"/>
          <a:ext cx="4975708" cy="3246120"/>
        </p:xfrm>
        <a:graphic xmlns:a="http://schemas.openxmlformats.org/drawingml/2006/main">
          <a:graphicData uri="http://schemas.openxmlformats.org/drawingml/2006/chart">
            <c:chart xmlns:c="http://schemas.openxmlformats.org/drawingml/2006/chart" r:id="rId2"/>
          </a:graphicData>
        </a:graphic>
      </p:graphicFrame>
      <p:sp>
        <p:nvSpPr>
          <p:cNvPr id="7" name="lectura-g3"/>
          <p:cNvSpPr txBox="1"/>
          <p:nvPr/>
        </p:nvSpPr>
        <p:spPr>
          <a:xfrm>
            <a:off x="777240" y="5120640"/>
            <a:ext cx="5158588" cy="91440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Clientes inscritos antes de 2025 que compran en el mes: 176 en enero → 44 en diciembre. </a:t>
            </a:r>
            <a:pPr indent="0" marL="0">
              <a:buNone/>
            </a:pPr>
            <a:r>
              <a:rPr lang="en-US" sz="1500" dirty="0">
                <a:solidFill>
                  <a:srgbClr val="14213D"/>
                </a:solidFill>
                <a:latin typeface="Arial" pitchFamily="34" charset="0"/>
                <a:ea typeface="Arial" pitchFamily="34" charset="-122"/>
                <a:cs typeface="Arial" pitchFamily="34" charset="-120"/>
              </a:rPr>
              <a:t>Retienen 36%, contra 45% de los nuevos.</a:t>
            </a:r>
            <a:endParaRPr lang="en-US" sz="1500" dirty="0"/>
          </a:p>
        </p:txBody>
      </p:sp>
      <p:sp>
        <p:nvSpPr>
          <p:cNvPr id="8" name="lectura-g4"/>
          <p:cNvSpPr txBox="1"/>
          <p:nvPr/>
        </p:nvSpPr>
        <p:spPr>
          <a:xfrm>
            <a:off x="6255868" y="5120640"/>
            <a:ext cx="5158588" cy="91440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Nuevos que vuelven a comprar en 90 días: 84% (enero) → 58% (septiembre). </a:t>
            </a:r>
            <a:pPr indent="0" marL="0">
              <a:buNone/>
            </a:pPr>
            <a:r>
              <a:rPr lang="en-US" sz="1500" dirty="0">
                <a:solidFill>
                  <a:srgbClr val="14213D"/>
                </a:solidFill>
                <a:latin typeface="Arial" pitchFamily="34" charset="0"/>
                <a:ea typeface="Arial" pitchFamily="34" charset="-122"/>
                <a:cs typeface="Arial" pitchFamily="34" charset="-120"/>
              </a:rPr>
              <a:t>Cada mes la reposición rinde menos.</a:t>
            </a:r>
            <a:endParaRPr lang="en-US" sz="1500" dirty="0"/>
          </a:p>
        </p:txBody>
      </p:sp>
      <p:sp>
        <p:nvSpPr>
          <p:cNvPr id="9" name="Text 0"/>
          <p:cNvSpPr/>
          <p:nvPr>
            <p:ph idx="101" type="body" hasCustomPrompt="1"/>
          </p:nvPr>
        </p:nvSpPr>
        <p:spPr>
          <a:xfrm>
            <a:off x="777240" y="6309360"/>
            <a:ext cx="10088575" cy="320040"/>
          </a:xfrm>
          <a:prstGeom prst="rect">
            <a:avLst/>
          </a:prstGeom>
          <a:noFill/>
          <a:ln/>
        </p:spPr>
        <p:txBody>
          <a:bodyPr wrap="square" lIns="0" tIns="0" rIns="0" bIns="0" rtlCol="0"/>
          <a:lstStyle/>
          <a:p>
            <a:pPr algn="l" indent="0" marL="0">
              <a:buNone/>
            </a:pPr>
            <a:r>
              <a:rPr lang="en-US" sz="1100" dirty="0">
                <a:solidFill>
                  <a:srgbClr val="6B6860"/>
                </a:solidFill>
              </a:rPr>
              <a:t>Base heredada = alta en la tarjeta antes de 2025 (341 clientes); nuevos = alta en 2025 (859) · Fuente: POS Multitienda del Sur, 2025 · Elaboración Grupo 3</a:t>
            </a:r>
            <a:endParaRPr lang="en-US" sz="1100" dirty="0"/>
          </a:p>
        </p:txBody>
      </p:sp>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10637215" cy="914400"/>
          </a:xfrm>
          <a:prstGeom prst="rect">
            <a:avLst/>
          </a:prstGeom>
          <a:noFill/>
          <a:ln/>
        </p:spPr>
        <p:txBody>
          <a:bodyPr wrap="square" lIns="0" tIns="0" rIns="0" bIns="0" rtlCol="0" anchor="t"/>
          <a:lstStyle/>
          <a:p>
            <a:pPr algn="l" indent="0" marL="0">
              <a:buNone/>
            </a:pPr>
            <a:r>
              <a:rPr lang="en-US" sz="3000" b="1" dirty="0">
                <a:solidFill>
                  <a:srgbClr val="14213D"/>
                </a:solidFill>
                <a:latin typeface="Georgia" pitchFamily="34" charset="0"/>
                <a:ea typeface="Georgia" pitchFamily="34" charset="-122"/>
                <a:cs typeface="Georgia" pitchFamily="34" charset="-120"/>
              </a:rPr>
              <a:t>La definición de “cliente activo” mueve el número, no la conclusión</a:t>
            </a:r>
            <a:endParaRPr lang="en-US" sz="3000" dirty="0"/>
          </a:p>
        </p:txBody>
      </p:sp>
      <p:graphicFrame>
        <p:nvGraphicFramePr>
          <p:cNvPr id="5" name="tabla-ventanas"/>
          <p:cNvGraphicFramePr>
            <a:graphicFrameLocks noGrp="1"/>
          </p:cNvGraphicFramePr>
          <p:nvPr>
            <p:extLst>
              <p:ext uri="{D42A27DB-BD31-4B8C-83A1-F6EECF244321}">
                <p14:modId xmlns:p14="http://schemas.microsoft.com/office/powerpoint/2010/main" val="1579011935"/>
              </p:ext>
            </p:extLst>
          </p:nvPr>
        </p:nvGraphicFramePr>
        <p:xfrm>
          <a:off x="777240" y="1600200"/>
          <a:ext cx="6949440" cy="914400"/>
        </p:xfrm>
        <a:graphic>
          <a:graphicData uri="http://schemas.openxmlformats.org/drawingml/2006/table">
            <a:tbl>
              <a:tblPr/>
              <a:tblGrid>
                <a:gridCol w="2514600"/>
                <a:gridCol w="1325880"/>
                <a:gridCol w="1783080"/>
                <a:gridCol w="1325880"/>
              </a:tblGrid>
              <a:tr h="50292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Activo si compró en…</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algn="r" indent="0" marL="0">
                        <a:buNone/>
                      </a:pPr>
                      <a:r>
                        <a:rPr lang="en-US" sz="1600" b="1" dirty="0">
                          <a:solidFill>
                            <a:srgbClr val="FFFFFF"/>
                          </a:solidFill>
                          <a:latin typeface="Arial" pitchFamily="34" charset="0"/>
                          <a:ea typeface="Arial" pitchFamily="34" charset="-122"/>
                          <a:cs typeface="Arial" pitchFamily="34" charset="-120"/>
                        </a:rPr>
                        <a:t>Retención</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algn="r" indent="0" marL="0">
                        <a:buNone/>
                      </a:pPr>
                      <a:r>
                        <a:rPr lang="en-US" sz="1600" b="1" dirty="0">
                          <a:solidFill>
                            <a:srgbClr val="FFFFFF"/>
                          </a:solidFill>
                          <a:latin typeface="Arial" pitchFamily="34" charset="0"/>
                          <a:ea typeface="Arial" pitchFamily="34" charset="-122"/>
                          <a:cs typeface="Arial" pitchFamily="34" charset="-120"/>
                        </a:rPr>
                        <a:t>Reemplazos en dic</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Lectura</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r>
              <a:tr h="502920">
                <a:tc>
                  <a:txBody>
                    <a:bodyPr/>
                    <a:lstStyle/>
                    <a:p>
                      <a:pPr algn="l" indent="0" marL="0">
                        <a:buNone/>
                      </a:pPr>
                      <a:r>
                        <a:rPr lang="en-US" sz="1600" dirty="0">
                          <a:solidFill>
                            <a:srgbClr val="14213D"/>
                          </a:solidFill>
                          <a:latin typeface="Arial" pitchFamily="34" charset="0"/>
                          <a:ea typeface="Arial" pitchFamily="34" charset="-122"/>
                          <a:cs typeface="Arial" pitchFamily="34" charset="-120"/>
                        </a:rPr>
                        <a:t>30 días (su creencia)</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4213D"/>
                          </a:solidFill>
                          <a:latin typeface="Arial" pitchFamily="34" charset="0"/>
                          <a:ea typeface="Arial" pitchFamily="34" charset="-122"/>
                          <a:cs typeface="Arial" pitchFamily="34" charset="-120"/>
                        </a:rPr>
                        <a:t>18,6%</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4213D"/>
                          </a:solidFill>
                          <a:latin typeface="Arial" pitchFamily="34" charset="0"/>
                          <a:ea typeface="Arial" pitchFamily="34" charset="-122"/>
                          <a:cs typeface="Arial" pitchFamily="34" charset="-120"/>
                        </a:rPr>
                        <a:t>86%</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4213D"/>
                          </a:solidFill>
                          <a:latin typeface="Arial" pitchFamily="34" charset="0"/>
                          <a:ea typeface="Arial" pitchFamily="34" charset="-122"/>
                          <a:cs typeface="Arial" pitchFamily="34" charset="-120"/>
                        </a:rPr>
                        <a:t>Repone</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502920">
                <a:tc>
                  <a:txBody>
                    <a:bodyPr/>
                    <a:lstStyle/>
                    <a:p>
                      <a:pPr algn="l" indent="0" marL="0">
                        <a:buNone/>
                      </a:pPr>
                      <a:r>
                        <a:rPr lang="en-US" sz="1600" b="1" dirty="0">
                          <a:solidFill>
                            <a:srgbClr val="14213D"/>
                          </a:solidFill>
                          <a:latin typeface="Arial" pitchFamily="34" charset="0"/>
                          <a:ea typeface="Arial" pitchFamily="34" charset="-122"/>
                          <a:cs typeface="Arial" pitchFamily="34" charset="-120"/>
                        </a:rPr>
                        <a:t>90 días (elegida)</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CE7DC"/>
                    </a:solidFill>
                  </a:tcPr>
                </a:tc>
                <a:tc>
                  <a:txBody>
                    <a:bodyPr/>
                    <a:lstStyle/>
                    <a:p>
                      <a:pPr algn="r" indent="0" marL="0">
                        <a:buNone/>
                      </a:pPr>
                      <a:r>
                        <a:rPr lang="en-US" sz="1600" b="1" dirty="0">
                          <a:solidFill>
                            <a:srgbClr val="14213D"/>
                          </a:solidFill>
                          <a:latin typeface="Arial" pitchFamily="34" charset="0"/>
                          <a:ea typeface="Arial" pitchFamily="34" charset="-122"/>
                          <a:cs typeface="Arial" pitchFamily="34" charset="-120"/>
                        </a:rPr>
                        <a:t>41,5%</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CE7DC"/>
                    </a:solidFill>
                  </a:tcPr>
                </a:tc>
                <a:tc>
                  <a:txBody>
                    <a:bodyPr/>
                    <a:lstStyle/>
                    <a:p>
                      <a:pPr algn="r" indent="0" marL="0">
                        <a:buNone/>
                      </a:pPr>
                      <a:r>
                        <a:rPr lang="en-US" sz="1600" b="1" dirty="0">
                          <a:solidFill>
                            <a:srgbClr val="14213D"/>
                          </a:solidFill>
                          <a:latin typeface="Arial" pitchFamily="34" charset="0"/>
                          <a:ea typeface="Arial" pitchFamily="34" charset="-122"/>
                          <a:cs typeface="Arial" pitchFamily="34" charset="-120"/>
                        </a:rPr>
                        <a:t>69%</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CE7DC"/>
                    </a:solidFill>
                  </a:tcPr>
                </a:tc>
                <a:tc>
                  <a:txBody>
                    <a:bodyPr/>
                    <a:lstStyle/>
                    <a:p>
                      <a:pPr algn="l" indent="0" marL="0">
                        <a:buNone/>
                      </a:pPr>
                      <a:r>
                        <a:rPr lang="en-US" sz="1600" b="1" dirty="0">
                          <a:solidFill>
                            <a:srgbClr val="14213D"/>
                          </a:solidFill>
                          <a:latin typeface="Arial" pitchFamily="34" charset="0"/>
                          <a:ea typeface="Arial" pitchFamily="34" charset="-122"/>
                          <a:cs typeface="Arial" pitchFamily="34" charset="-120"/>
                        </a:rPr>
                        <a:t>Repone</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CE7DC"/>
                    </a:solidFill>
                  </a:tcPr>
                </a:tc>
              </a:tr>
              <a:tr h="502920">
                <a:tc>
                  <a:txBody>
                    <a:bodyPr/>
                    <a:lstStyle/>
                    <a:p>
                      <a:pPr algn="l" indent="0" marL="0">
                        <a:buNone/>
                      </a:pPr>
                      <a:r>
                        <a:rPr lang="en-US" sz="1600" dirty="0">
                          <a:solidFill>
                            <a:srgbClr val="14213D"/>
                          </a:solidFill>
                          <a:latin typeface="Arial" pitchFamily="34" charset="0"/>
                          <a:ea typeface="Arial" pitchFamily="34" charset="-122"/>
                          <a:cs typeface="Arial" pitchFamily="34" charset="-120"/>
                        </a:rPr>
                        <a:t>180 días (alternativa)</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4213D"/>
                          </a:solidFill>
                          <a:latin typeface="Arial" pitchFamily="34" charset="0"/>
                          <a:ea typeface="Arial" pitchFamily="34" charset="-122"/>
                          <a:cs typeface="Arial" pitchFamily="34" charset="-120"/>
                        </a:rPr>
                        <a:t>58,6%</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4213D"/>
                          </a:solidFill>
                          <a:latin typeface="Arial" pitchFamily="34" charset="0"/>
                          <a:ea typeface="Arial" pitchFamily="34" charset="-122"/>
                          <a:cs typeface="Arial" pitchFamily="34" charset="-120"/>
                        </a:rPr>
                        <a:t>59%</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4213D"/>
                          </a:solidFill>
                          <a:latin typeface="Arial" pitchFamily="34" charset="0"/>
                          <a:ea typeface="Arial" pitchFamily="34" charset="-122"/>
                          <a:cs typeface="Arial" pitchFamily="34" charset="-120"/>
                        </a:rPr>
                        <a:t>Repone</a:t>
                      </a:r>
                      <a:endParaRPr lang="en-US" sz="1600" dirty="0">
                        <a:latin typeface="Arial" charset="0"/>
                        <a:ea typeface="Arial" charset="0"/>
                        <a:cs typeface="Arial"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bl>
          </a:graphicData>
        </a:graphic>
      </p:graphicFrame>
      <p:sp>
        <p:nvSpPr>
          <p:cNvPr id="4" name="formula"/>
          <p:cNvSpPr txBox="1"/>
          <p:nvPr/>
        </p:nvSpPr>
        <p:spPr>
          <a:xfrm>
            <a:off x="777240" y="3794760"/>
            <a:ext cx="6949440" cy="1188720"/>
          </a:xfrm>
          <a:prstGeom prst="rect">
            <a:avLst/>
          </a:prstGeom>
          <a:noFill/>
          <a:ln/>
        </p:spPr>
        <p:txBody>
          <a:bodyPr wrap="square" lIns="0" tIns="0" rIns="0" bIns="0" rtlCol="0" anchor="t"/>
          <a:lstStyle/>
          <a:p>
            <a:pPr indent="0" marL="0">
              <a:lnSpc>
                <a:spcPct val="115000"/>
              </a:lnSpc>
              <a:buNone/>
            </a:pPr>
            <a:r>
              <a:rPr lang="en-US" sz="1500" dirty="0">
                <a:solidFill>
                  <a:srgbClr val="4A5568"/>
                </a:solidFill>
                <a:latin typeface="Arial" pitchFamily="34" charset="0"/>
                <a:ea typeface="Arial" pitchFamily="34" charset="-122"/>
                <a:cs typeface="Arial" pitchFamily="34" charset="-120"/>
              </a:rPr>
              <a:t>Retención = clientes activos al 30-jun que siguen activos al 31-dic ÷ activos al 30-jun. Regla fijada antes de calcular: si más de la mitad de la base de diciembre son reemplazos, la cadena repone.</a:t>
            </a:r>
            <a:endParaRPr lang="en-US" sz="1500" dirty="0"/>
          </a:p>
        </p:txBody>
      </p:sp>
      <p:sp>
        <p:nvSpPr>
          <p:cNvPr id="5" name="tarjeta-1"/>
          <p:cNvSpPr/>
          <p:nvPr/>
        </p:nvSpPr>
        <p:spPr>
          <a:xfrm>
            <a:off x="8092440" y="1600200"/>
            <a:ext cx="3322015" cy="1920240"/>
          </a:xfrm>
          <a:prstGeom prst="roundRect">
            <a:avLst>
              <a:gd name="adj" fmla="val 3810"/>
            </a:avLst>
          </a:prstGeom>
          <a:solidFill>
            <a:srgbClr val="FFFFFF"/>
          </a:solidFill>
          <a:ln/>
        </p:spPr>
      </p:sp>
      <p:sp>
        <p:nvSpPr>
          <p:cNvPr id="6" name="tarjeta-1-borde"/>
          <p:cNvSpPr/>
          <p:nvPr/>
        </p:nvSpPr>
        <p:spPr>
          <a:xfrm>
            <a:off x="8092440" y="1600200"/>
            <a:ext cx="64008" cy="1920240"/>
          </a:xfrm>
          <a:prstGeom prst="rect">
            <a:avLst/>
          </a:prstGeom>
          <a:solidFill>
            <a:srgbClr val="2A78D6"/>
          </a:solidFill>
          <a:ln/>
        </p:spPr>
      </p:sp>
      <p:sp>
        <p:nvSpPr>
          <p:cNvPr id="7" name="tarjeta-1-titulo"/>
          <p:cNvSpPr txBox="1"/>
          <p:nvPr/>
        </p:nvSpPr>
        <p:spPr>
          <a:xfrm>
            <a:off x="8366760" y="1783080"/>
            <a:ext cx="2864815" cy="411480"/>
          </a:xfrm>
          <a:prstGeom prst="rect">
            <a:avLst/>
          </a:prstGeom>
          <a:noFill/>
          <a:ln/>
        </p:spPr>
        <p:txBody>
          <a:bodyPr wrap="square" lIns="0" tIns="0" rIns="0" bIns="0" rtlCol="0" anchor="ctr"/>
          <a:lstStyle/>
          <a:p>
            <a:pPr indent="0" marL="0">
              <a:buNone/>
            </a:pPr>
            <a:r>
              <a:rPr lang="en-US" sz="1800" b="1" dirty="0">
                <a:solidFill>
                  <a:srgbClr val="14213D"/>
                </a:solidFill>
                <a:latin typeface="Arial" pitchFamily="34" charset="0"/>
                <a:ea typeface="Arial" pitchFamily="34" charset="-122"/>
                <a:cs typeface="Arial" pitchFamily="34" charset="-120"/>
              </a:rPr>
              <a:t>Por qué 90 días</a:t>
            </a:r>
            <a:endParaRPr lang="en-US" sz="1800" dirty="0"/>
          </a:p>
        </p:txBody>
      </p:sp>
      <p:sp>
        <p:nvSpPr>
          <p:cNvPr id="8" name="tarjeta-1-texto"/>
          <p:cNvSpPr txBox="1"/>
          <p:nvPr/>
        </p:nvSpPr>
        <p:spPr>
          <a:xfrm>
            <a:off x="8366760" y="2240280"/>
            <a:ext cx="2864815" cy="1143000"/>
          </a:xfrm>
          <a:prstGeom prst="rect">
            <a:avLst/>
          </a:prstGeom>
          <a:noFill/>
          <a:ln/>
        </p:spPr>
        <p:txBody>
          <a:bodyPr wrap="square" lIns="0" tIns="0" rIns="0" bIns="0" rtlCol="0" anchor="t"/>
          <a:lstStyle/>
          <a:p>
            <a:pPr indent="0" marL="0">
              <a:lnSpc>
                <a:spcPct val="115000"/>
              </a:lnSpc>
              <a:buNone/>
            </a:pPr>
            <a:r>
              <a:rPr lang="en-US" sz="1400" dirty="0">
                <a:solidFill>
                  <a:srgbClr val="4A5568"/>
                </a:solidFill>
                <a:latin typeface="Arial" pitchFamily="34" charset="0"/>
                <a:ea typeface="Arial" pitchFamily="34" charset="-122"/>
                <a:cs typeface="Arial" pitchFamily="34" charset="-120"/>
              </a:rPr>
              <a:t>Un cliente vuelve en 13 días (mediana). Con 30 días, el 28% de las pausas normales se leería como abandono; con 90, solo el 7%.</a:t>
            </a:r>
            <a:endParaRPr lang="en-US" sz="1400" dirty="0"/>
          </a:p>
        </p:txBody>
      </p:sp>
      <p:sp>
        <p:nvSpPr>
          <p:cNvPr id="9" name="tarjeta-2"/>
          <p:cNvSpPr/>
          <p:nvPr/>
        </p:nvSpPr>
        <p:spPr>
          <a:xfrm>
            <a:off x="8092440" y="3749040"/>
            <a:ext cx="3322015" cy="1920240"/>
          </a:xfrm>
          <a:prstGeom prst="roundRect">
            <a:avLst>
              <a:gd name="adj" fmla="val 3810"/>
            </a:avLst>
          </a:prstGeom>
          <a:solidFill>
            <a:srgbClr val="FFFFFF"/>
          </a:solidFill>
          <a:ln/>
        </p:spPr>
      </p:sp>
      <p:sp>
        <p:nvSpPr>
          <p:cNvPr id="10" name="tarjeta-2-borde"/>
          <p:cNvSpPr/>
          <p:nvPr/>
        </p:nvSpPr>
        <p:spPr>
          <a:xfrm>
            <a:off x="8092440" y="3749040"/>
            <a:ext cx="64008" cy="1920240"/>
          </a:xfrm>
          <a:prstGeom prst="rect">
            <a:avLst/>
          </a:prstGeom>
          <a:solidFill>
            <a:srgbClr val="EB6834"/>
          </a:solidFill>
          <a:ln/>
        </p:spPr>
      </p:sp>
      <p:sp>
        <p:nvSpPr>
          <p:cNvPr id="11" name="tarjeta-2-titulo"/>
          <p:cNvSpPr txBox="1"/>
          <p:nvPr/>
        </p:nvSpPr>
        <p:spPr>
          <a:xfrm>
            <a:off x="8366760" y="3931920"/>
            <a:ext cx="2864815" cy="411480"/>
          </a:xfrm>
          <a:prstGeom prst="rect">
            <a:avLst/>
          </a:prstGeom>
          <a:noFill/>
          <a:ln/>
        </p:spPr>
        <p:txBody>
          <a:bodyPr wrap="square" lIns="0" tIns="0" rIns="0" bIns="0" rtlCol="0" anchor="ctr"/>
          <a:lstStyle/>
          <a:p>
            <a:pPr indent="0" marL="0">
              <a:buNone/>
            </a:pPr>
            <a:r>
              <a:rPr lang="en-US" sz="1800" b="1" dirty="0">
                <a:solidFill>
                  <a:srgbClr val="14213D"/>
                </a:solidFill>
                <a:latin typeface="Arial" pitchFamily="34" charset="0"/>
                <a:ea typeface="Arial" pitchFamily="34" charset="-122"/>
                <a:cs typeface="Arial" pitchFamily="34" charset="-120"/>
              </a:rPr>
              <a:t>Qué es un cliente nuevo</a:t>
            </a:r>
            <a:endParaRPr lang="en-US" sz="1800" dirty="0"/>
          </a:p>
        </p:txBody>
      </p:sp>
      <p:sp>
        <p:nvSpPr>
          <p:cNvPr id="12" name="tarjeta-2-texto"/>
          <p:cNvSpPr txBox="1"/>
          <p:nvPr/>
        </p:nvSpPr>
        <p:spPr>
          <a:xfrm>
            <a:off x="8366760" y="4389120"/>
            <a:ext cx="2864815" cy="1143000"/>
          </a:xfrm>
          <a:prstGeom prst="rect">
            <a:avLst/>
          </a:prstGeom>
          <a:noFill/>
          <a:ln/>
        </p:spPr>
        <p:txBody>
          <a:bodyPr wrap="square" lIns="0" tIns="0" rIns="0" bIns="0" rtlCol="0" anchor="t"/>
          <a:lstStyle/>
          <a:p>
            <a:pPr indent="0" marL="0">
              <a:lnSpc>
                <a:spcPct val="115000"/>
              </a:lnSpc>
              <a:buNone/>
            </a:pPr>
            <a:r>
              <a:rPr lang="en-US" sz="1400" dirty="0">
                <a:solidFill>
                  <a:srgbClr val="4A5568"/>
                </a:solidFill>
                <a:latin typeface="Arial" pitchFamily="34" charset="0"/>
                <a:ea typeface="Arial" pitchFamily="34" charset="-122"/>
                <a:cs typeface="Arial" pitchFamily="34" charset="-120"/>
              </a:rPr>
              <a:t>Inscrito en 2025. Contar la primera boleta del año sumaría como “nuevos” a clientes antiguos que vuelven.</a:t>
            </a:r>
            <a:endParaRPr lang="en-US" sz="1400" dirty="0"/>
          </a:p>
        </p:txBody>
      </p:sp>
      <p:sp>
        <p:nvSpPr>
          <p:cNvPr id="13" name="Text 0"/>
          <p:cNvSpPr/>
          <p:nvPr>
            <p:ph idx="101" type="body" hasCustomPrompt="1"/>
          </p:nvPr>
        </p:nvSpPr>
        <p:spPr>
          <a:xfrm>
            <a:off x="777240" y="6309360"/>
            <a:ext cx="10088575" cy="320040"/>
          </a:xfrm>
          <a:prstGeom prst="rect">
            <a:avLst/>
          </a:prstGeom>
          <a:noFill/>
          <a:ln/>
        </p:spPr>
        <p:txBody>
          <a:bodyPr wrap="square" lIns="0" tIns="0" rIns="0" bIns="0" rtlCol="0"/>
          <a:lstStyle/>
          <a:p>
            <a:pPr algn="l" indent="0" marL="0">
              <a:buNone/>
            </a:pPr>
            <a:r>
              <a:rPr lang="en-US" sz="1100" dirty="0">
                <a:solidFill>
                  <a:srgbClr val="6B6860"/>
                </a:solidFill>
              </a:rPr>
              <a:t>Clientes identificados, 2025 · Las ventanas comparadas no se traslapan (abr–jun vs oct–dic con 90 días) · Fuente: POS Multitienda del Sur · Elaboración Grupo 3</a:t>
            </a:r>
            <a:endParaRPr lang="en-US" sz="1100" dirty="0"/>
          </a:p>
        </p:txBody>
      </p:sp>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10637215" cy="914400"/>
          </a:xfrm>
          <a:prstGeom prst="rect">
            <a:avLst/>
          </a:prstGeom>
          <a:noFill/>
          <a:ln/>
        </p:spPr>
        <p:txBody>
          <a:bodyPr wrap="square" lIns="0" tIns="0" rIns="0" bIns="0" rtlCol="0" anchor="t"/>
          <a:lstStyle/>
          <a:p>
            <a:pPr algn="l" indent="0" marL="0">
              <a:buNone/>
            </a:pPr>
            <a:r>
              <a:rPr lang="en-US" sz="3000" b="1" dirty="0">
                <a:solidFill>
                  <a:srgbClr val="14213D"/>
                </a:solidFill>
                <a:latin typeface="Georgia" pitchFamily="34" charset="0"/>
                <a:ea typeface="Georgia" pitchFamily="34" charset="-122"/>
                <a:cs typeface="Georgia" pitchFamily="34" charset="-120"/>
              </a:rPr>
              <a:t>Cómo lo calculamos: cuatro fuentes, un modelo</a:t>
            </a:r>
            <a:endParaRPr lang="en-US" sz="3000" dirty="0"/>
          </a:p>
        </p:txBody>
      </p:sp>
      <p:sp>
        <p:nvSpPr>
          <p:cNvPr id="3" name="marco-modelo"/>
          <p:cNvSpPr/>
          <p:nvPr/>
        </p:nvSpPr>
        <p:spPr>
          <a:xfrm>
            <a:off x="777240" y="1417320"/>
            <a:ext cx="7086600" cy="4185920"/>
          </a:xfrm>
          <a:prstGeom prst="roundRect">
            <a:avLst>
              <a:gd name="adj" fmla="val 1748"/>
            </a:avLst>
          </a:prstGeom>
          <a:solidFill>
            <a:srgbClr val="FFFFFF"/>
          </a:solidFill>
          <a:ln w="9525">
            <a:solidFill>
              <a:srgbClr val="E2DED5"/>
            </a:solidFill>
            <a:prstDash val="solid"/>
          </a:ln>
        </p:spPr>
      </p:sp>
      <p:pic>
        <p:nvPicPr>
          <p:cNvPr id="4" name="diagrama-modelo" descr="Modelo estrella: tabla de hechos fact_venta_linea al centro, con las dimensiones fecha (API del IPC), cliente, tienda, producto (CSV) y campaña (JSON)">    </p:cNvPr>
          <p:cNvPicPr>
            <a:picLocks noChangeAspect="1"/>
          </p:cNvPicPr>
          <p:nvPr/>
        </p:nvPicPr>
        <p:blipFill>
          <a:blip r:embed="rId1"/>
          <a:stretch>
            <a:fillRect/>
          </a:stretch>
        </p:blipFill>
        <p:spPr>
          <a:xfrm>
            <a:off x="822960" y="1463040"/>
            <a:ext cx="6995160" cy="4039616"/>
          </a:xfrm>
          <a:prstGeom prst="rect">
            <a:avLst/>
          </a:prstGeom>
        </p:spPr>
      </p:pic>
      <p:sp>
        <p:nvSpPr>
          <p:cNvPr id="5" name="clave-1-borde"/>
          <p:cNvSpPr/>
          <p:nvPr/>
        </p:nvSpPr>
        <p:spPr>
          <a:xfrm>
            <a:off x="8229600" y="1508760"/>
            <a:ext cx="64008" cy="1097280"/>
          </a:xfrm>
          <a:prstGeom prst="rect">
            <a:avLst/>
          </a:prstGeom>
          <a:solidFill>
            <a:srgbClr val="14213D"/>
          </a:solidFill>
          <a:ln/>
        </p:spPr>
      </p:sp>
      <p:sp>
        <p:nvSpPr>
          <p:cNvPr id="6" name="clave-1-titulo"/>
          <p:cNvSpPr txBox="1"/>
          <p:nvPr/>
        </p:nvSpPr>
        <p:spPr>
          <a:xfrm>
            <a:off x="8485632" y="1508760"/>
            <a:ext cx="2910535" cy="36576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Una fila es…</a:t>
            </a:r>
            <a:endParaRPr lang="en-US" sz="1600" dirty="0"/>
          </a:p>
        </p:txBody>
      </p:sp>
      <p:sp>
        <p:nvSpPr>
          <p:cNvPr id="7" name="clave-1-texto"/>
          <p:cNvSpPr txBox="1"/>
          <p:nvPr/>
        </p:nvSpPr>
        <p:spPr>
          <a:xfrm>
            <a:off x="8485632" y="1892808"/>
            <a:ext cx="2910535" cy="731520"/>
          </a:xfrm>
          <a:prstGeom prst="rect">
            <a:avLst/>
          </a:prstGeom>
          <a:noFill/>
          <a:ln/>
        </p:spPr>
        <p:txBody>
          <a:bodyPr wrap="square" lIns="0" tIns="0" rIns="0" bIns="0" rtlCol="0" anchor="t"/>
          <a:lstStyle/>
          <a:p>
            <a:pPr indent="0" marL="0">
              <a:buNone/>
            </a:pPr>
            <a:r>
              <a:rPr lang="en-US" sz="1400" dirty="0">
                <a:solidFill>
                  <a:srgbClr val="4A5568"/>
                </a:solidFill>
                <a:latin typeface="Arial" pitchFamily="34" charset="0"/>
                <a:ea typeface="Arial" pitchFamily="34" charset="-122"/>
                <a:cs typeface="Arial" pitchFamily="34" charset="-120"/>
              </a:rPr>
              <a:t>un producto vendido o devuelto en una boleta válida de 2025</a:t>
            </a:r>
            <a:endParaRPr lang="en-US" sz="1400" dirty="0"/>
          </a:p>
        </p:txBody>
      </p:sp>
      <p:sp>
        <p:nvSpPr>
          <p:cNvPr id="8" name="clave-2-borde"/>
          <p:cNvSpPr/>
          <p:nvPr/>
        </p:nvSpPr>
        <p:spPr>
          <a:xfrm>
            <a:off x="8229600" y="2880360"/>
            <a:ext cx="64008" cy="1097280"/>
          </a:xfrm>
          <a:prstGeom prst="rect">
            <a:avLst/>
          </a:prstGeom>
          <a:solidFill>
            <a:srgbClr val="2A78D6"/>
          </a:solidFill>
          <a:ln/>
        </p:spPr>
      </p:sp>
      <p:sp>
        <p:nvSpPr>
          <p:cNvPr id="9" name="clave-2-titulo"/>
          <p:cNvSpPr txBox="1"/>
          <p:nvPr/>
        </p:nvSpPr>
        <p:spPr>
          <a:xfrm>
            <a:off x="8485632" y="2880360"/>
            <a:ext cx="2910535" cy="36576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Una visita es…</a:t>
            </a:r>
            <a:endParaRPr lang="en-US" sz="1600" dirty="0"/>
          </a:p>
        </p:txBody>
      </p:sp>
      <p:sp>
        <p:nvSpPr>
          <p:cNvPr id="10" name="clave-2-texto"/>
          <p:cNvSpPr txBox="1"/>
          <p:nvPr/>
        </p:nvSpPr>
        <p:spPr>
          <a:xfrm>
            <a:off x="8485632" y="3264408"/>
            <a:ext cx="2910535" cy="731520"/>
          </a:xfrm>
          <a:prstGeom prst="rect">
            <a:avLst/>
          </a:prstGeom>
          <a:noFill/>
          <a:ln/>
        </p:spPr>
        <p:txBody>
          <a:bodyPr wrap="square" lIns="0" tIns="0" rIns="0" bIns="0" rtlCol="0" anchor="t"/>
          <a:lstStyle/>
          <a:p>
            <a:pPr indent="0" marL="0">
              <a:buNone/>
            </a:pPr>
            <a:r>
              <a:rPr lang="en-US" sz="1400" dirty="0">
                <a:solidFill>
                  <a:srgbClr val="4A5568"/>
                </a:solidFill>
                <a:latin typeface="Arial" pitchFamily="34" charset="0"/>
                <a:ea typeface="Arial" pitchFamily="34" charset="-122"/>
                <a:cs typeface="Arial" pitchFamily="34" charset="-120"/>
              </a:rPr>
              <a:t>una boleta con monto neto positivo: una devolución sola no cuenta</a:t>
            </a:r>
            <a:endParaRPr lang="en-US" sz="1400" dirty="0"/>
          </a:p>
        </p:txBody>
      </p:sp>
      <p:sp>
        <p:nvSpPr>
          <p:cNvPr id="11" name="clave-3-borde"/>
          <p:cNvSpPr/>
          <p:nvPr/>
        </p:nvSpPr>
        <p:spPr>
          <a:xfrm>
            <a:off x="8229600" y="4251960"/>
            <a:ext cx="64008" cy="1097280"/>
          </a:xfrm>
          <a:prstGeom prst="rect">
            <a:avLst/>
          </a:prstGeom>
          <a:solidFill>
            <a:srgbClr val="EB6834"/>
          </a:solidFill>
          <a:ln/>
        </p:spPr>
      </p:sp>
      <p:sp>
        <p:nvSpPr>
          <p:cNvPr id="12" name="clave-3-titulo"/>
          <p:cNvSpPr txBox="1"/>
          <p:nvPr/>
        </p:nvSpPr>
        <p:spPr>
          <a:xfrm>
            <a:off x="8485632" y="4251960"/>
            <a:ext cx="2910535" cy="36576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Cobertura</a:t>
            </a:r>
            <a:endParaRPr lang="en-US" sz="1600" dirty="0"/>
          </a:p>
        </p:txBody>
      </p:sp>
      <p:sp>
        <p:nvSpPr>
          <p:cNvPr id="13" name="clave-3-texto"/>
          <p:cNvSpPr txBox="1"/>
          <p:nvPr/>
        </p:nvSpPr>
        <p:spPr>
          <a:xfrm>
            <a:off x="8485632" y="4636008"/>
            <a:ext cx="2910535" cy="731520"/>
          </a:xfrm>
          <a:prstGeom prst="rect">
            <a:avLst/>
          </a:prstGeom>
          <a:noFill/>
          <a:ln/>
        </p:spPr>
        <p:txBody>
          <a:bodyPr wrap="square" lIns="0" tIns="0" rIns="0" bIns="0" rtlCol="0" anchor="t"/>
          <a:lstStyle/>
          <a:p>
            <a:pPr indent="0" marL="0">
              <a:buNone/>
            </a:pPr>
            <a:r>
              <a:rPr lang="en-US" sz="1400" dirty="0">
                <a:solidFill>
                  <a:srgbClr val="4A5568"/>
                </a:solidFill>
                <a:latin typeface="Arial" pitchFamily="34" charset="0"/>
                <a:ea typeface="Arial" pitchFamily="34" charset="-122"/>
                <a:cs typeface="Arial" pitchFamily="34" charset="-120"/>
              </a:rPr>
              <a:t>85% de las boletas entra a la retención; 13% son anónimas</a:t>
            </a:r>
            <a:endParaRPr lang="en-US" sz="1400" dirty="0"/>
          </a:p>
        </p:txBody>
      </p:sp>
      <p:sp>
        <p:nvSpPr>
          <p:cNvPr id="14" name="Text 0"/>
          <p:cNvSpPr/>
          <p:nvPr>
            <p:ph idx="101" type="body" hasCustomPrompt="1"/>
          </p:nvPr>
        </p:nvSpPr>
        <p:spPr>
          <a:xfrm>
            <a:off x="777240" y="6309360"/>
            <a:ext cx="10088575" cy="320040"/>
          </a:xfrm>
          <a:prstGeom prst="rect">
            <a:avLst/>
          </a:prstGeom>
          <a:noFill/>
          <a:ln/>
        </p:spPr>
        <p:txBody>
          <a:bodyPr wrap="square" lIns="0" tIns="0" rIns="0" bIns="0" rtlCol="0"/>
          <a:lstStyle/>
          <a:p>
            <a:pPr algn="l" indent="0" marL="0">
              <a:buNone/>
            </a:pPr>
            <a:r>
              <a:rPr lang="en-US" sz="1100" dirty="0">
                <a:solidFill>
                  <a:srgbClr val="6B6860"/>
                </a:solidFill>
              </a:rPr>
              <a:t>POS (SQLite) · maestro de productos (CSV) · campañas (JSON) · IPC de mindicador.cl (API) · El notebook corre de cero en ~3 minutos</a:t>
            </a:r>
            <a:endParaRPr lang="en-US" sz="1100" dirty="0"/>
          </a:p>
        </p:txBody>
      </p:sp>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10637215" cy="914400"/>
          </a:xfrm>
          <a:prstGeom prst="rect">
            <a:avLst/>
          </a:prstGeom>
          <a:noFill/>
          <a:ln/>
        </p:spPr>
        <p:txBody>
          <a:bodyPr wrap="square" lIns="0" tIns="0" rIns="0" bIns="0" rtlCol="0" anchor="t"/>
          <a:lstStyle/>
          <a:p>
            <a:pPr algn="l" indent="0" marL="0">
              <a:buNone/>
            </a:pPr>
            <a:r>
              <a:rPr lang="en-US" sz="3000" b="1" dirty="0">
                <a:solidFill>
                  <a:srgbClr val="14213D"/>
                </a:solidFill>
                <a:latin typeface="Georgia" pitchFamily="34" charset="0"/>
                <a:ea typeface="Georgia" pitchFamily="34" charset="-122"/>
                <a:cs typeface="Georgia" pitchFamily="34" charset="-120"/>
              </a:rPr>
              <a:t>Recomendación: retener antes de captar</a:t>
            </a:r>
            <a:endParaRPr lang="en-US" sz="3000" dirty="0"/>
          </a:p>
        </p:txBody>
      </p:sp>
      <p:sp>
        <p:nvSpPr>
          <p:cNvPr id="3" name="accion-1"/>
          <p:cNvSpPr/>
          <p:nvPr/>
        </p:nvSpPr>
        <p:spPr>
          <a:xfrm>
            <a:off x="777240" y="1417320"/>
            <a:ext cx="6796735" cy="1005840"/>
          </a:xfrm>
          <a:prstGeom prst="roundRect">
            <a:avLst>
              <a:gd name="adj" fmla="val 7273"/>
            </a:avLst>
          </a:prstGeom>
          <a:solidFill>
            <a:srgbClr val="FFFFFF"/>
          </a:solidFill>
          <a:ln w="9525">
            <a:solidFill>
              <a:srgbClr val="E2DED5"/>
            </a:solidFill>
            <a:prstDash val="solid"/>
          </a:ln>
        </p:spPr>
      </p:sp>
      <p:sp>
        <p:nvSpPr>
          <p:cNvPr id="4" name="accion-1-numero"/>
          <p:cNvSpPr txBox="1"/>
          <p:nvPr/>
        </p:nvSpPr>
        <p:spPr>
          <a:xfrm>
            <a:off x="1005840" y="1417320"/>
            <a:ext cx="457200" cy="1005840"/>
          </a:xfrm>
          <a:prstGeom prst="rect">
            <a:avLst/>
          </a:prstGeom>
          <a:noFill/>
          <a:ln/>
        </p:spPr>
        <p:txBody>
          <a:bodyPr wrap="square" lIns="0" tIns="0" rIns="0" bIns="0" rtlCol="0" anchor="ctr"/>
          <a:lstStyle/>
          <a:p>
            <a:pPr indent="0" marL="0">
              <a:buNone/>
            </a:pPr>
            <a:r>
              <a:rPr lang="en-US" sz="2600" b="1" dirty="0">
                <a:solidFill>
                  <a:srgbClr val="EB6834"/>
                </a:solidFill>
                <a:latin typeface="Georgia" pitchFamily="34" charset="0"/>
                <a:ea typeface="Georgia" pitchFamily="34" charset="-122"/>
                <a:cs typeface="Georgia" pitchFamily="34" charset="-120"/>
              </a:rPr>
              <a:t>1</a:t>
            </a:r>
            <a:endParaRPr lang="en-US" sz="2600" dirty="0"/>
          </a:p>
        </p:txBody>
      </p:sp>
      <p:sp>
        <p:nvSpPr>
          <p:cNvPr id="5" name="accion-1-texto"/>
          <p:cNvSpPr txBox="1"/>
          <p:nvPr/>
        </p:nvSpPr>
        <p:spPr>
          <a:xfrm>
            <a:off x="1554480" y="1417320"/>
            <a:ext cx="5836615" cy="1005840"/>
          </a:xfrm>
          <a:prstGeom prst="rect">
            <a:avLst/>
          </a:prstGeom>
          <a:noFill/>
          <a:ln/>
        </p:spPr>
        <p:txBody>
          <a:bodyPr wrap="square" lIns="0" tIns="0" rIns="0" bIns="0" rtlCol="0" anchor="ctr"/>
          <a:lstStyle/>
          <a:p>
            <a:pPr indent="0" marL="0">
              <a:buNone/>
            </a:pPr>
            <a:r>
              <a:rPr lang="en-US" sz="1500" b="1" dirty="0">
                <a:solidFill>
                  <a:srgbClr val="14213D"/>
                </a:solidFill>
                <a:latin typeface="Arial" pitchFamily="34" charset="0"/>
                <a:ea typeface="Arial" pitchFamily="34" charset="-122"/>
                <a:cs typeface="Arial" pitchFamily="34" charset="-120"/>
              </a:rPr>
              <a:t>Una definición oficial de cliente activo</a:t>
            </a:r>
            <a:pPr indent="0" marL="0">
              <a:buNone/>
            </a:pPr>
            <a:r>
              <a:rPr lang="en-US" sz="1500" dirty="0">
                <a:solidFill>
                  <a:srgbClr val="14213D"/>
                </a:solidFill>
                <a:latin typeface="Arial" pitchFamily="34" charset="0"/>
                <a:ea typeface="Arial" pitchFamily="34" charset="-122"/>
                <a:cs typeface="Arial" pitchFamily="34" charset="-120"/>
              </a:rPr>
              <a:t> (90 días), con la Gerencia Comercial como dueña. Hoy la retención se puede leer entre 19% y 59%.</a:t>
            </a:r>
            <a:endParaRPr lang="en-US" sz="1500" dirty="0"/>
          </a:p>
        </p:txBody>
      </p:sp>
      <p:sp>
        <p:nvSpPr>
          <p:cNvPr id="6" name="accion-2"/>
          <p:cNvSpPr/>
          <p:nvPr/>
        </p:nvSpPr>
        <p:spPr>
          <a:xfrm>
            <a:off x="777240" y="2587752"/>
            <a:ext cx="6796735" cy="1005840"/>
          </a:xfrm>
          <a:prstGeom prst="roundRect">
            <a:avLst>
              <a:gd name="adj" fmla="val 7273"/>
            </a:avLst>
          </a:prstGeom>
          <a:solidFill>
            <a:srgbClr val="FFFFFF"/>
          </a:solidFill>
          <a:ln w="9525">
            <a:solidFill>
              <a:srgbClr val="E2DED5"/>
            </a:solidFill>
            <a:prstDash val="solid"/>
          </a:ln>
        </p:spPr>
      </p:sp>
      <p:sp>
        <p:nvSpPr>
          <p:cNvPr id="7" name="accion-2-numero"/>
          <p:cNvSpPr txBox="1"/>
          <p:nvPr/>
        </p:nvSpPr>
        <p:spPr>
          <a:xfrm>
            <a:off x="1005840" y="2587752"/>
            <a:ext cx="457200" cy="1005840"/>
          </a:xfrm>
          <a:prstGeom prst="rect">
            <a:avLst/>
          </a:prstGeom>
          <a:noFill/>
          <a:ln/>
        </p:spPr>
        <p:txBody>
          <a:bodyPr wrap="square" lIns="0" tIns="0" rIns="0" bIns="0" rtlCol="0" anchor="ctr"/>
          <a:lstStyle/>
          <a:p>
            <a:pPr indent="0" marL="0">
              <a:buNone/>
            </a:pPr>
            <a:r>
              <a:rPr lang="en-US" sz="2600" b="1" dirty="0">
                <a:solidFill>
                  <a:srgbClr val="EB6834"/>
                </a:solidFill>
                <a:latin typeface="Georgia" pitchFamily="34" charset="0"/>
                <a:ea typeface="Georgia" pitchFamily="34" charset="-122"/>
                <a:cs typeface="Georgia" pitchFamily="34" charset="-120"/>
              </a:rPr>
              <a:t>2</a:t>
            </a:r>
            <a:endParaRPr lang="en-US" sz="2600" dirty="0"/>
          </a:p>
        </p:txBody>
      </p:sp>
      <p:sp>
        <p:nvSpPr>
          <p:cNvPr id="8" name="accion-2-texto"/>
          <p:cNvSpPr txBox="1"/>
          <p:nvPr/>
        </p:nvSpPr>
        <p:spPr>
          <a:xfrm>
            <a:off x="1554480" y="2587752"/>
            <a:ext cx="5836615" cy="1005840"/>
          </a:xfrm>
          <a:prstGeom prst="rect">
            <a:avLst/>
          </a:prstGeom>
          <a:noFill/>
          <a:ln/>
        </p:spPr>
        <p:txBody>
          <a:bodyPr wrap="square" lIns="0" tIns="0" rIns="0" bIns="0" rtlCol="0" anchor="ctr"/>
          <a:lstStyle/>
          <a:p>
            <a:pPr indent="0" marL="0">
              <a:buNone/>
            </a:pPr>
            <a:r>
              <a:rPr lang="en-US" sz="1500" b="1" dirty="0">
                <a:solidFill>
                  <a:srgbClr val="14213D"/>
                </a:solidFill>
                <a:latin typeface="Arial" pitchFamily="34" charset="0"/>
                <a:ea typeface="Arial" pitchFamily="34" charset="-122"/>
                <a:cs typeface="Arial" pitchFamily="34" charset="-120"/>
              </a:rPr>
              <a:t>Volver a contactar en la ventana de compra</a:t>
            </a:r>
            <a:pPr indent="0" marL="0">
              <a:buNone/>
            </a:pPr>
            <a:r>
              <a:rPr lang="en-US" sz="1500" dirty="0">
                <a:solidFill>
                  <a:srgbClr val="14213D"/>
                </a:solidFill>
                <a:latin typeface="Arial" pitchFamily="34" charset="0"/>
                <a:ea typeface="Arial" pitchFamily="34" charset="-122"/>
                <a:cs typeface="Arial" pitchFamily="34" charset="-120"/>
              </a:rPr>
              <a:t>: a los 30–45 días sin comprar, antes de perderlo. Partir por la base antigua.</a:t>
            </a:r>
            <a:endParaRPr lang="en-US" sz="1500" dirty="0"/>
          </a:p>
        </p:txBody>
      </p:sp>
      <p:sp>
        <p:nvSpPr>
          <p:cNvPr id="9" name="accion-3"/>
          <p:cNvSpPr/>
          <p:nvPr/>
        </p:nvSpPr>
        <p:spPr>
          <a:xfrm>
            <a:off x="777240" y="3758184"/>
            <a:ext cx="6796735" cy="1005840"/>
          </a:xfrm>
          <a:prstGeom prst="roundRect">
            <a:avLst>
              <a:gd name="adj" fmla="val 7273"/>
            </a:avLst>
          </a:prstGeom>
          <a:solidFill>
            <a:srgbClr val="FFFFFF"/>
          </a:solidFill>
          <a:ln w="9525">
            <a:solidFill>
              <a:srgbClr val="E2DED5"/>
            </a:solidFill>
            <a:prstDash val="solid"/>
          </a:ln>
        </p:spPr>
      </p:sp>
      <p:sp>
        <p:nvSpPr>
          <p:cNvPr id="10" name="accion-3-numero"/>
          <p:cNvSpPr txBox="1"/>
          <p:nvPr/>
        </p:nvSpPr>
        <p:spPr>
          <a:xfrm>
            <a:off x="1005840" y="3758184"/>
            <a:ext cx="457200" cy="1005840"/>
          </a:xfrm>
          <a:prstGeom prst="rect">
            <a:avLst/>
          </a:prstGeom>
          <a:noFill/>
          <a:ln/>
        </p:spPr>
        <p:txBody>
          <a:bodyPr wrap="square" lIns="0" tIns="0" rIns="0" bIns="0" rtlCol="0" anchor="ctr"/>
          <a:lstStyle/>
          <a:p>
            <a:pPr indent="0" marL="0">
              <a:buNone/>
            </a:pPr>
            <a:r>
              <a:rPr lang="en-US" sz="2600" b="1" dirty="0">
                <a:solidFill>
                  <a:srgbClr val="EB6834"/>
                </a:solidFill>
                <a:latin typeface="Georgia" pitchFamily="34" charset="0"/>
                <a:ea typeface="Georgia" pitchFamily="34" charset="-122"/>
                <a:cs typeface="Georgia" pitchFamily="34" charset="-120"/>
              </a:rPr>
              <a:t>3</a:t>
            </a:r>
            <a:endParaRPr lang="en-US" sz="2600" dirty="0"/>
          </a:p>
        </p:txBody>
      </p:sp>
      <p:sp>
        <p:nvSpPr>
          <p:cNvPr id="11" name="accion-3-texto"/>
          <p:cNvSpPr txBox="1"/>
          <p:nvPr/>
        </p:nvSpPr>
        <p:spPr>
          <a:xfrm>
            <a:off x="1554480" y="3758184"/>
            <a:ext cx="5836615" cy="1005840"/>
          </a:xfrm>
          <a:prstGeom prst="rect">
            <a:avLst/>
          </a:prstGeom>
          <a:noFill/>
          <a:ln/>
        </p:spPr>
        <p:txBody>
          <a:bodyPr wrap="square" lIns="0" tIns="0" rIns="0" bIns="0" rtlCol="0" anchor="ctr"/>
          <a:lstStyle/>
          <a:p>
            <a:pPr indent="0" marL="0">
              <a:buNone/>
            </a:pPr>
            <a:r>
              <a:rPr lang="en-US" sz="1500" b="1" dirty="0">
                <a:solidFill>
                  <a:srgbClr val="14213D"/>
                </a:solidFill>
                <a:latin typeface="Arial" pitchFamily="34" charset="0"/>
                <a:ea typeface="Arial" pitchFamily="34" charset="-122"/>
                <a:cs typeface="Arial" pitchFamily="34" charset="-120"/>
              </a:rPr>
              <a:t>Asegurar la segunda compra</a:t>
            </a:r>
            <a:pPr indent="0" marL="0">
              <a:buNone/>
            </a:pPr>
            <a:r>
              <a:rPr lang="en-US" sz="1500" dirty="0">
                <a:solidFill>
                  <a:srgbClr val="14213D"/>
                </a:solidFill>
                <a:latin typeface="Arial" pitchFamily="34" charset="0"/>
                <a:ea typeface="Arial" pitchFamily="34" charset="-122"/>
                <a:cs typeface="Arial" pitchFamily="34" charset="-120"/>
              </a:rPr>
              <a:t> de los clientes nuevos en sus primeros 30 días.</a:t>
            </a:r>
            <a:endParaRPr lang="en-US" sz="1500" dirty="0"/>
          </a:p>
        </p:txBody>
      </p:sp>
      <p:sp>
        <p:nvSpPr>
          <p:cNvPr id="12" name="accion-4"/>
          <p:cNvSpPr/>
          <p:nvPr/>
        </p:nvSpPr>
        <p:spPr>
          <a:xfrm>
            <a:off x="777240" y="4928616"/>
            <a:ext cx="6796735" cy="1005840"/>
          </a:xfrm>
          <a:prstGeom prst="roundRect">
            <a:avLst>
              <a:gd name="adj" fmla="val 7273"/>
            </a:avLst>
          </a:prstGeom>
          <a:solidFill>
            <a:srgbClr val="FFFFFF"/>
          </a:solidFill>
          <a:ln w="9525">
            <a:solidFill>
              <a:srgbClr val="E2DED5"/>
            </a:solidFill>
            <a:prstDash val="solid"/>
          </a:ln>
        </p:spPr>
      </p:sp>
      <p:sp>
        <p:nvSpPr>
          <p:cNvPr id="13" name="accion-4-numero"/>
          <p:cNvSpPr txBox="1"/>
          <p:nvPr/>
        </p:nvSpPr>
        <p:spPr>
          <a:xfrm>
            <a:off x="1005840" y="4928616"/>
            <a:ext cx="457200" cy="1005840"/>
          </a:xfrm>
          <a:prstGeom prst="rect">
            <a:avLst/>
          </a:prstGeom>
          <a:noFill/>
          <a:ln/>
        </p:spPr>
        <p:txBody>
          <a:bodyPr wrap="square" lIns="0" tIns="0" rIns="0" bIns="0" rtlCol="0" anchor="ctr"/>
          <a:lstStyle/>
          <a:p>
            <a:pPr indent="0" marL="0">
              <a:buNone/>
            </a:pPr>
            <a:r>
              <a:rPr lang="en-US" sz="2600" b="1" dirty="0">
                <a:solidFill>
                  <a:srgbClr val="EB6834"/>
                </a:solidFill>
                <a:latin typeface="Georgia" pitchFamily="34" charset="0"/>
                <a:ea typeface="Georgia" pitchFamily="34" charset="-122"/>
                <a:cs typeface="Georgia" pitchFamily="34" charset="-120"/>
              </a:rPr>
              <a:t>4</a:t>
            </a:r>
            <a:endParaRPr lang="en-US" sz="2600" dirty="0"/>
          </a:p>
        </p:txBody>
      </p:sp>
      <p:sp>
        <p:nvSpPr>
          <p:cNvPr id="14" name="accion-4-texto"/>
          <p:cNvSpPr txBox="1"/>
          <p:nvPr/>
        </p:nvSpPr>
        <p:spPr>
          <a:xfrm>
            <a:off x="1554480" y="4928616"/>
            <a:ext cx="5836615" cy="1005840"/>
          </a:xfrm>
          <a:prstGeom prst="rect">
            <a:avLst/>
          </a:prstGeom>
          <a:noFill/>
          <a:ln/>
        </p:spPr>
        <p:txBody>
          <a:bodyPr wrap="square" lIns="0" tIns="0" rIns="0" bIns="0" rtlCol="0" anchor="ctr"/>
          <a:lstStyle/>
          <a:p>
            <a:pPr indent="0" marL="0">
              <a:buNone/>
            </a:pPr>
            <a:r>
              <a:rPr lang="en-US" sz="1500" b="1" dirty="0">
                <a:solidFill>
                  <a:srgbClr val="14213D"/>
                </a:solidFill>
                <a:latin typeface="Arial" pitchFamily="34" charset="0"/>
                <a:ea typeface="Arial" pitchFamily="34" charset="-122"/>
                <a:cs typeface="Arial" pitchFamily="34" charset="-120"/>
              </a:rPr>
              <a:t>Revisar primero los locales que menos retienen</a:t>
            </a:r>
            <a:pPr indent="0" marL="0">
              <a:buNone/>
            </a:pPr>
            <a:r>
              <a:rPr lang="en-US" sz="1500" dirty="0">
                <a:solidFill>
                  <a:srgbClr val="14213D"/>
                </a:solidFill>
                <a:latin typeface="Arial" pitchFamily="34" charset="0"/>
                <a:ea typeface="Arial" pitchFamily="34" charset="-122"/>
                <a:cs typeface="Arial" pitchFamily="34" charset="-120"/>
              </a:rPr>
              <a:t>: La Florida 25%, Concepción 30%, Maipú y Viña 32% (cadena 41,5%).</a:t>
            </a:r>
            <a:endParaRPr lang="en-US" sz="1500" dirty="0"/>
          </a:p>
        </p:txBody>
      </p:sp>
      <p:sp>
        <p:nvSpPr>
          <p:cNvPr id="15" name="caja-valor"/>
          <p:cNvSpPr/>
          <p:nvPr/>
        </p:nvSpPr>
        <p:spPr>
          <a:xfrm>
            <a:off x="7848295" y="1417320"/>
            <a:ext cx="3566160" cy="4517136"/>
          </a:xfrm>
          <a:prstGeom prst="roundRect">
            <a:avLst>
              <a:gd name="adj" fmla="val 2051"/>
            </a:avLst>
          </a:prstGeom>
          <a:solidFill>
            <a:srgbClr val="14213D"/>
          </a:solidFill>
          <a:ln/>
        </p:spPr>
      </p:sp>
      <p:sp>
        <p:nvSpPr>
          <p:cNvPr id="16" name="valor-etiqueta"/>
          <p:cNvSpPr txBox="1"/>
          <p:nvPr/>
        </p:nvSpPr>
        <p:spPr>
          <a:xfrm>
            <a:off x="8168335" y="1737360"/>
            <a:ext cx="2926080" cy="320040"/>
          </a:xfrm>
          <a:prstGeom prst="rect">
            <a:avLst/>
          </a:prstGeom>
          <a:noFill/>
          <a:ln/>
        </p:spPr>
        <p:txBody>
          <a:bodyPr wrap="square" lIns="0" tIns="0" rIns="0" bIns="0" rtlCol="0" anchor="ctr"/>
          <a:lstStyle/>
          <a:p>
            <a:pPr indent="0" marL="0">
              <a:buNone/>
            </a:pPr>
            <a:r>
              <a:rPr lang="en-US" sz="1300" b="1" spc="200" kern="0" dirty="0">
                <a:solidFill>
                  <a:srgbClr val="F29B6E"/>
                </a:solidFill>
                <a:latin typeface="Arial" pitchFamily="34" charset="0"/>
                <a:ea typeface="Arial" pitchFamily="34" charset="-122"/>
                <a:cs typeface="Arial" pitchFamily="34" charset="-120"/>
              </a:rPr>
              <a:t>LO QUE VALE</a:t>
            </a:r>
            <a:endParaRPr lang="en-US" sz="1300" dirty="0"/>
          </a:p>
        </p:txBody>
      </p:sp>
      <p:sp>
        <p:nvSpPr>
          <p:cNvPr id="17" name="valor-cifra"/>
          <p:cNvSpPr txBox="1"/>
          <p:nvPr/>
        </p:nvSpPr>
        <p:spPr>
          <a:xfrm>
            <a:off x="8168335" y="2103120"/>
            <a:ext cx="2926080" cy="868680"/>
          </a:xfrm>
          <a:prstGeom prst="rect">
            <a:avLst/>
          </a:prstGeom>
          <a:noFill/>
          <a:ln/>
        </p:spPr>
        <p:txBody>
          <a:bodyPr wrap="square" lIns="0" tIns="0" rIns="0" bIns="0" rtlCol="0" anchor="ctr"/>
          <a:lstStyle/>
          <a:p>
            <a:pPr indent="0" marL="0">
              <a:buNone/>
            </a:pPr>
            <a:r>
              <a:rPr lang="en-US" sz="4600" b="1" dirty="0">
                <a:solidFill>
                  <a:srgbClr val="F4F1EA"/>
                </a:solidFill>
                <a:latin typeface="Georgia" pitchFamily="34" charset="0"/>
                <a:ea typeface="Georgia" pitchFamily="34" charset="-122"/>
                <a:cs typeface="Georgia" pitchFamily="34" charset="-120"/>
              </a:rPr>
              <a:t>$6,8 MM</a:t>
            </a:r>
            <a:endParaRPr lang="en-US" sz="4600" dirty="0"/>
          </a:p>
        </p:txBody>
      </p:sp>
      <p:sp>
        <p:nvSpPr>
          <p:cNvPr id="18" name="valor-texto"/>
          <p:cNvSpPr txBox="1"/>
          <p:nvPr/>
        </p:nvSpPr>
        <p:spPr>
          <a:xfrm>
            <a:off x="8168335" y="2971800"/>
            <a:ext cx="2926080" cy="822960"/>
          </a:xfrm>
          <a:prstGeom prst="rect">
            <a:avLst/>
          </a:prstGeom>
          <a:noFill/>
          <a:ln/>
        </p:spPr>
        <p:txBody>
          <a:bodyPr wrap="square" lIns="0" tIns="0" rIns="0" bIns="0" rtlCol="0" anchor="t"/>
          <a:lstStyle/>
          <a:p>
            <a:pPr indent="0" marL="0">
              <a:buNone/>
            </a:pPr>
            <a:r>
              <a:rPr lang="en-US" sz="1500" dirty="0">
                <a:solidFill>
                  <a:srgbClr val="C9D3E3"/>
                </a:solidFill>
                <a:latin typeface="Arial" pitchFamily="34" charset="0"/>
                <a:ea typeface="Arial" pitchFamily="34" charset="-122"/>
                <a:cs typeface="Arial" pitchFamily="34" charset="-120"/>
              </a:rPr>
              <a:t>de venta al año por cada 10 puntos de retención (≈ 49 clientes)</a:t>
            </a:r>
            <a:endParaRPr lang="en-US" sz="1500" dirty="0"/>
          </a:p>
        </p:txBody>
      </p:sp>
      <p:sp>
        <p:nvSpPr>
          <p:cNvPr id="19" name="valor-separador"/>
          <p:cNvSpPr/>
          <p:nvPr/>
        </p:nvSpPr>
        <p:spPr>
          <a:xfrm>
            <a:off x="8168335" y="3977640"/>
            <a:ext cx="2926080" cy="0"/>
          </a:xfrm>
          <a:prstGeom prst="line">
            <a:avLst/>
          </a:prstGeom>
          <a:noFill/>
          <a:ln w="15875">
            <a:solidFill>
              <a:srgbClr val="34466B"/>
            </a:solidFill>
            <a:prstDash val="solid"/>
          </a:ln>
        </p:spPr>
      </p:sp>
      <p:sp>
        <p:nvSpPr>
          <p:cNvPr id="20" name="valor-perdidos"/>
          <p:cNvSpPr txBox="1"/>
          <p:nvPr/>
        </p:nvSpPr>
        <p:spPr>
          <a:xfrm>
            <a:off x="8168335" y="4160520"/>
            <a:ext cx="2926080" cy="1097280"/>
          </a:xfrm>
          <a:prstGeom prst="rect">
            <a:avLst/>
          </a:prstGeom>
          <a:noFill/>
          <a:ln/>
        </p:spPr>
        <p:txBody>
          <a:bodyPr wrap="square" lIns="0" tIns="0" rIns="0" bIns="0" rtlCol="0" anchor="t"/>
          <a:lstStyle/>
          <a:p>
            <a:pPr indent="0" marL="0">
              <a:buNone/>
            </a:pPr>
            <a:r>
              <a:rPr lang="en-US" sz="1500" dirty="0">
                <a:solidFill>
                  <a:srgbClr val="C9D3E3"/>
                </a:solidFill>
                <a:latin typeface="Arial" pitchFamily="34" charset="0"/>
                <a:ea typeface="Arial" pitchFamily="34" charset="-122"/>
                <a:cs typeface="Arial" pitchFamily="34" charset="-120"/>
              </a:rPr>
              <a:t>Los 285 clientes perdidos gastaron </a:t>
            </a:r>
            <a:pPr indent="0" marL="0">
              <a:buNone/>
            </a:pPr>
            <a:r>
              <a:rPr lang="en-US" sz="1500" b="1" dirty="0">
                <a:solidFill>
                  <a:srgbClr val="F4F1EA"/>
                </a:solidFill>
                <a:latin typeface="Arial" pitchFamily="34" charset="0"/>
                <a:ea typeface="Arial" pitchFamily="34" charset="-122"/>
                <a:cs typeface="Arial" pitchFamily="34" charset="-120"/>
              </a:rPr>
              <a:t>$19,7 MM</a:t>
            </a:r>
            <a:pPr indent="0" marL="0">
              <a:buNone/>
            </a:pPr>
            <a:r>
              <a:rPr lang="en-US" sz="1500" dirty="0">
                <a:solidFill>
                  <a:srgbClr val="C9D3E3"/>
                </a:solidFill>
                <a:latin typeface="Arial" pitchFamily="34" charset="0"/>
                <a:ea typeface="Arial" pitchFamily="34" charset="-122"/>
                <a:cs typeface="Arial" pitchFamily="34" charset="-120"/>
              </a:rPr>
              <a:t> en el primer semestre</a:t>
            </a:r>
            <a:endParaRPr lang="en-US" sz="1500" dirty="0"/>
          </a:p>
        </p:txBody>
      </p:sp>
      <p:sp>
        <p:nvSpPr>
          <p:cNvPr id="21" name="Text 0"/>
          <p:cNvSpPr/>
          <p:nvPr>
            <p:ph idx="101" type="body" hasCustomPrompt="1"/>
          </p:nvPr>
        </p:nvSpPr>
        <p:spPr>
          <a:xfrm>
            <a:off x="777240" y="6309360"/>
            <a:ext cx="10088575" cy="320040"/>
          </a:xfrm>
          <a:prstGeom prst="rect">
            <a:avLst/>
          </a:prstGeom>
          <a:noFill/>
          <a:ln/>
        </p:spPr>
        <p:txBody>
          <a:bodyPr wrap="square" lIns="0" tIns="0" rIns="0" bIns="0" rtlCol="0"/>
          <a:lstStyle/>
          <a:p>
            <a:pPr algn="l" indent="0" marL="0">
              <a:buNone/>
            </a:pPr>
            <a:r>
              <a:rPr lang="en-US" sz="1100" dirty="0">
                <a:solidFill>
                  <a:srgbClr val="6B6860"/>
                </a:solidFill>
              </a:rPr>
              <a:t>Pesos de diciembre de 2025, deflactados con el IPC (mindicador.cl) · Supuesto: un cliente retenido mantiene su gasto mensual · Locales con 33 a 46 clientes: priorizar, no concluir</a:t>
            </a:r>
            <a:endParaRPr lang="en-US" sz="1100" dirty="0"/>
          </a:p>
        </p:txBody>
      </p:sp>
      <p:sp>
        <p:nvSpPr>
          <p:cNvPr id="25" name="Slide Number Placeholder 0"/>
          <p:cNvSpPr>
            <a:spLocks noGrp="1"/>
          </p:cNvSpPr>
          <p:nvPr>
            <p:ph type="sldNum" sz="quarter" idx="4294967295"/>
          </p:nvPr>
        </p:nvSpPr>
        <p:spPr>
          <a:xfrm>
            <a:off x="11048695" y="6309360"/>
            <a:ext cx="36576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6B6860"/>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Multitienda Grupo 3">
  <a:themeElements>
    <a:clrScheme name="Multitienda Grupo 3">
      <a:dk1>
        <a:srgbClr val="14213D"/>
      </a:dk1>
      <a:lt1>
        <a:srgbClr val="FFFFFF"/>
      </a:lt1>
      <a:dk2>
        <a:srgbClr val="4A5568"/>
      </a:dk2>
      <a:lt2>
        <a:srgbClr val="F7F5F0"/>
      </a:lt2>
      <a:accent1>
        <a:srgbClr val="2A78D6"/>
      </a:accent1>
      <a:accent2>
        <a:srgbClr val="EB6834"/>
      </a:accent2>
      <a:accent3>
        <a:srgbClr val="1BAF7A"/>
      </a:accent3>
      <a:accent4>
        <a:srgbClr val="9A978E"/>
      </a:accent4>
      <a:accent5>
        <a:srgbClr val="F29B6E"/>
      </a:accent5>
      <a:accent6>
        <a:srgbClr val="7FB2F0"/>
      </a:accent6>
      <a:hlink>
        <a:srgbClr val="2A78D6"/>
      </a:hlink>
      <a:folHlink>
        <a:srgbClr val="6250D6"/>
      </a:folHlink>
    </a:clrScheme>
    <a:fontScheme name="Multitienda Grupo 3">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1 · Multitienda del Sur</dc:title>
  <dc:subject>PptxGenJS Presentation</dc:subject>
  <dc:creator>Grupo 3</dc:creator>
  <cp:lastModifiedBy>Grupo 3</cp:lastModifiedBy>
  <cp:revision>1</cp:revision>
  <dcterms:created xsi:type="dcterms:W3CDTF">2026-10-15T13:28:27Z</dcterms:created>
  <dcterms:modified xsi:type="dcterms:W3CDTF">2026-10-15T13:28:27Z</dcterms:modified>
</cp:coreProperties>
</file>